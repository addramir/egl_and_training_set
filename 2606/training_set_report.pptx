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46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1440"/>
            <a:ext cx="274320" cy="49606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L2G Training Set Construction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Comparison: Open Targets 25.06 vs 26.03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Locus-to-Gene (L2G) Scoring Framework  ·  Effector Gene List &amp; Training Set Pipeline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2560320" cy="100584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</a:rPr>
              <a:t>55,003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EGL pairs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840480"/>
            <a:ext cx="2560320" cy="100584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</a:rPr>
              <a:t>200,536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8328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Training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3840480"/>
            <a:ext cx="2560320" cy="100584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</a:rPr>
              <a:t>13,060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Positives (GSP)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Pipeline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3886200" cy="4069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388620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86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7490"/>
                </a:solidFill>
              </a:rPr>
              <a:t>STAGE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Effector Gene List (EGL)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Three independent evidence sources combined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into a single positive-label gene–disease set.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4864" cy="5303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Rare Variant Evidence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5877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EVA · Genomics England · UniProt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Gene2Phenotype · ClinGen · Orphanet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Score threshold: ≥ 0.75 (26.03) / ≥ 0.95 (25.06)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54864" cy="5303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017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ChEMBL Clinical Precedence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32735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Phase 3+ approved drug–target pairs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(PHASE_3, PHASE_4, APPROVAL, PREAPPROVAL)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54864" cy="5303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Legacy OTG Gold Standard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9593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Curated high/medium-confidence locus–gene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assignments (otg_gs_230511.json)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5196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7490"/>
                </a:solidFill>
              </a:rPr>
              <a:t>→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4937760" y="822960"/>
            <a:ext cx="3886200" cy="4069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37760" y="822960"/>
            <a:ext cx="38862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886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STAGE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4920" y="12070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Training Set Construction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74920" y="166420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EGL joined to L2G feature matrix, then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filtered through 6 sequential quality gates.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74920" y="244144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49240" y="2331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Replication filter (≥ 2 independent GWAS studies)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74920" y="2871216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49240" y="27614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Max 2 GSP genes per credible set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74920" y="3300984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49240" y="3191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STRING PPI filter — remove ambiguous negatives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74920" y="3730752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49240" y="36210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Distance filter (distanceSentinelFootprint ≠ 0)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74920" y="4160520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49240" y="4050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Protein-coding genes only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74920" y="459028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49240" y="4480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Deduplication patch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EGL Construction: Source Comparison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77240"/>
          <a:ext cx="8503920" cy="2286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Evidence Source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25.06 pairs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26.03 pairs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Change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OTG Gold Standard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812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812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ChEMBL Phase 3+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25,685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25,782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97706"/>
                          </a:solidFill>
                        </a:rPr>
                        <a:t>+97  ⚠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Rare Variants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16,371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</a:rPr>
                        <a:t>29,049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</a:rPr>
                        <a:t>+77%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Combined EGL (distinct)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42,288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55,003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+30%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3337560"/>
            <a:ext cx="3977640" cy="1600200"/>
          </a:xfrm>
          <a:prstGeom prst="rect">
            <a:avLst/>
          </a:prstGeom>
          <a:solidFill>
            <a:srgbClr val="EEF9FF"/>
          </a:solidFill>
          <a:ln w="12700">
            <a:solidFill>
              <a:srgbClr val="BAE6FD"/>
            </a:solidFill>
            <a:prstDash val="solid"/>
          </a:ln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20040" y="3337560"/>
            <a:ext cx="64008" cy="16002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75488" y="338328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Variant Threshold: 0.95 → 0.75
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alone grew 6× (57k → 361k records).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now dominates the rare variant source.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primary driver of EGL growth.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46320" y="3337560"/>
            <a:ext cx="3977640" cy="1600200"/>
          </a:xfrm>
          <a:prstGeom prst="rect">
            <a:avLst/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846320" y="3337560"/>
            <a:ext cx="64008" cy="1600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01768" y="338328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ChEMBL: Unexpectedly Few New EGLs ⚠
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+97 new pairs despite broader stage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(APPROVAL added). Schema was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restructured in 26.03 — needs investigation.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Training Set Filters — Step by Step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60520" y="658368"/>
            <a:ext cx="2011680" cy="274320"/>
          </a:xfrm>
          <a:prstGeom prst="rect">
            <a:avLst/>
          </a:prstGeom>
          <a:solidFill>
            <a:srgbClr val="0A3252"/>
          </a:solidFill>
          <a:ln w="12700">
            <a:solidFill>
              <a:srgbClr val="0A3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6052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25.06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658368"/>
            <a:ext cx="2651760" cy="2743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0" y="658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26.03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32688"/>
          <a:ext cx="8641080" cy="3826764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Filter step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FM rows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GSP+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FM rows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GSP+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EGL × FM join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892,206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21,799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1,123,880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27,364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</a:rPr>
                        <a:t>Qualified studies (25.06 only)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525,524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12,520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Replication filter  ⚠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524,141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12,883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</a:rPr>
                        <a:t>654,512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</a:rPr>
                        <a:t>15,999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Max 2 GSP per credible set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517,925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12,414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645,718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15,354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STRING PPI (0.80 / 0.75)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513,018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12,414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638,307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15,354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Distance filter (footprint ≠ 0)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512,796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12,192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637,854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14,901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Protein-coding + deduplication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184,791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227,259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 TRAINING SET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132,970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8,520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200,536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13,060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</a:rPr>
              <a:t>⚠  Replication: 26.03 passes 654k credible sets vs 264k in 25.06 (2.5× more lenient). Replication criteria needs tightening in the next release.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Final Training Set &amp; Key Takeaways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10312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869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7490"/>
                </a:solidFill>
              </a:rPr>
              <a:t>+51%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" y="15270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200,536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" y="1938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132,970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22128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Total rows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7772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560320" y="777240"/>
            <a:ext cx="210312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60320" y="8869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7490"/>
                </a:solidFill>
              </a:rPr>
              <a:t>+53%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560320" y="15270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13,060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60320" y="1938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8,520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22128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Positives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2103120" cy="54864"/>
          </a:xfrm>
          <a:prstGeom prst="rect">
            <a:avLst/>
          </a:prstGeom>
          <a:solidFill>
            <a:srgbClr val="0A5E73"/>
          </a:solidFill>
          <a:ln w="12700">
            <a:solidFill>
              <a:srgbClr val="0A5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29443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5E73"/>
                </a:solidFill>
              </a:rPr>
              <a:t>+29%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74320" y="35844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505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390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4270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Unique genes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0" y="28346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0320" y="2834640"/>
            <a:ext cx="2103120" cy="54864"/>
          </a:xfrm>
          <a:prstGeom prst="rect">
            <a:avLst/>
          </a:prstGeom>
          <a:solidFill>
            <a:srgbClr val="0A5E73"/>
          </a:solidFill>
          <a:ln w="12700">
            <a:solidFill>
              <a:srgbClr val="0A5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60320" y="29443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5E73"/>
                </a:solidFill>
              </a:rPr>
              <a:t>+24%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2560320" y="35844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1,711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56032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1,377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4270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Gene–disease pairs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777240"/>
            <a:ext cx="3977640" cy="4251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92040" y="777240"/>
            <a:ext cx="3977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0" y="8321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490"/>
                </a:solidFill>
              </a:rPr>
              <a:t>Key Takeaways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0" y="1298448"/>
            <a:ext cx="292608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29200" y="1298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↑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94960" y="12618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Rare variant threshold 0.95 → 0.75 is the main driver of EGL growth (+77% pairs, EVA 6× larger)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0" y="1984248"/>
            <a:ext cx="29260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0" y="1984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94960" y="19476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ChEMBL yielded only +97 new pairs — schema restructured in 26.03, expected more EGLs. Needs investigation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029200" y="2670048"/>
            <a:ext cx="292608" cy="2926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0" y="2670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↑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394960" y="26334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Feature matrix nearly doubled (31M → 58M rows) reflecting the 26.03 OT release expansion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029200" y="3355848"/>
            <a:ext cx="292608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94960" y="33192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Deduplication much heavier in 25.06 (−28% vs −12%) — 26.03 EGL is cleaner without literature noise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029200" y="4041648"/>
            <a:ext cx="292608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02920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94960" y="40050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STRING at 0.75 (vs 0.80) removes 2× more ambiguous negatives — correct, more conservative direction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47548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4A3B8"/>
                </a:solidFill>
              </a:rPr>
              <a:t>Positive rate stable: 6.4% (25.06) → 6.5% (26.03)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Issues &amp; Next Steps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023360" cy="3977640"/>
          </a:xfrm>
          <a:prstGeom prst="rect">
            <a:avLst/>
          </a:prstGeom>
          <a:solidFill>
            <a:srgbClr val="0A1E30"/>
          </a:solidFill>
          <a:ln w="12700">
            <a:solidFill>
              <a:srgbClr val="1C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023360" cy="6400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886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</a:rPr>
              <a:t>Issues Identified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353312"/>
            <a:ext cx="54864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3533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A5A5"/>
                </a:solidFill>
              </a:rPr>
              <a:t>Replication filter too lenient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26.03 on-the-fly criterion (≥2 GWAS) passes 654k CSs vs 264k curated list in 25.06. Simple counts conflate studies from the same cohort.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450592"/>
            <a:ext cx="54864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4505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A5A5"/>
                </a:solidFill>
              </a:rPr>
              <a:t>Qualified studies filter dropped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4320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25.06 restricted FM to 67k curated GWAS studies before filtering. Dropping this in 26.03 inflates the dataset with lower-quality studies.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547872"/>
            <a:ext cx="54864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5478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A5A5"/>
                </a:solidFill>
              </a:rPr>
              <a:t>ChEMBL coverage gap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Expected substantially more novel EGLs from the new clinical_precedence schema. Only +97 new pairs seen — root cause unclear.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822960"/>
            <a:ext cx="4023360" cy="3977640"/>
          </a:xfrm>
          <a:prstGeom prst="rect">
            <a:avLst/>
          </a:prstGeom>
          <a:solidFill>
            <a:srgbClr val="0A1E30"/>
          </a:solidFill>
          <a:ln w="12700">
            <a:solidFill>
              <a:srgbClr val="1C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822960"/>
            <a:ext cx="402336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83480" y="886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83480" y="1353312"/>
            <a:ext cx="54864" cy="8686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20640" y="13533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</a:rPr>
              <a:t>Stricter replication criterion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40" y="164592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Require replication across independent cohorts or ancestries (not just any 2 GWAS entries). Consider reintroducing a curated qualified-studies list for 27.x.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2450592"/>
            <a:ext cx="54864" cy="8686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20640" y="24505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</a:rPr>
              <a:t>Investigate ChEMBL pipeline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20640" y="274320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Compare evidence_clinical_precedence/ schema with old chembl evidence to understand the low novel-pair yield. May require upstream fix.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983480" y="3547872"/>
            <a:ext cx="54864" cy="8686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35478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</a:rPr>
              <a:t>Evaluate rare variant threshold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384048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Assess precision vs recall trade-off of 0.75 vs 0.95 threshold. EVA dominance at 0.75 warrants a sensitivity analysis.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Nearest-TSS Gene Analysis &amp; Feature Taxonomy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023360" cy="4160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02336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490"/>
                </a:solidFill>
              </a:rPr>
              <a:t>Nearest-TSS Composition of Positives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3749040" cy="1417320"/>
          </a:xfrm>
          <a:prstGeom prst="rect">
            <a:avLst/>
          </a:prstGeom>
          <a:solidFill>
            <a:srgbClr val="F4F9FF"/>
          </a:solidFill>
          <a:ln w="12700">
            <a:solidFill>
              <a:srgbClr val="DD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471A3"/>
                </a:solidFill>
              </a:rPr>
              <a:t>55.1%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7,201 rows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304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Nearest TSS (score = 1.0)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898648"/>
            <a:ext cx="3749040" cy="1417320"/>
          </a:xfrm>
          <a:prstGeom prst="rect">
            <a:avLst/>
          </a:prstGeom>
          <a:solidFill>
            <a:srgbClr val="F4F9FF"/>
          </a:solidFill>
          <a:ln w="12700">
            <a:solidFill>
              <a:srgbClr val="DDE8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97180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7E22"/>
                </a:solidFill>
              </a:rPr>
              <a:t>44.9%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1148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</a:rPr>
              <a:t>5,859 rows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Non-nearest (score &lt; 1.0)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4622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75569"/>
                </a:solidFill>
              </a:rPr>
              <a:t>distanceSentinelTssNeighbourhood is a continuous 0–1 score.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475569"/>
                </a:solidFill>
              </a:rPr>
              <a:t>1.0 = nearest TSS gene.  Median of non-nearest = 0.982 (mostly second-nearest).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0" y="777240"/>
            <a:ext cx="4251960" cy="4160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0" y="777240"/>
            <a:ext cx="425196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09160" y="8412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</a:rPr>
              <a:t>Feature Taxonomy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61872"/>
          <a:ext cx="4069080" cy="32918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1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lang="en-US" sz="11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Functional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Genomics — QTL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eQTL CLPP/H4, pQTL CLPP/H4, sQTL CLPP/H4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(+ neighbourhood versions)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Functional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Genomics — Reg.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E2G mean (+ neighbourhood)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Functional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Genomics — VEP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93226"/>
                          </a:solidFill>
                        </a:rPr>
                        <a:t>VEP max / mean (+ neighbourhood)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93226"/>
                          </a:solidFill>
                        </a:rPr>
                        <a:t>Protein-altering threshold = 0.6 (SO:0001818)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Distance-based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distanceSentinelTss/Footprint + Mean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variants + Neighbourhood scores (×8)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</a:rPr>
                        <a:t>Meta / other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credibleSetConfidence, geneCount500kb,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proteinGeneCount500kb, isProteinCoding</a:t>
                      </a:r>
                      <a:endParaRPr lang="en-US" sz="1000" dirty="0"/>
                    </a:p>
                  </a:txBody>
                  <a:tcPr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Dark Matter in the Training 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58952"/>
            <a:ext cx="8595360" cy="713232"/>
          </a:xfrm>
          <a:prstGeom prst="rect">
            <a:avLst/>
          </a:prstGeom>
          <a:solidFill>
            <a:srgbClr val="0A1E30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7955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B6D4"/>
                </a:solidFill>
              </a:rPr>
              <a:t xml:space="preserve">Definition: </a:t>
            </a:r>
            <a:r>
              <a:rPr lang="en-US" sz="1150" dirty="0">
                <a:solidFill>
                  <a:srgbClr val="CBD5E1"/>
                </a:solidFill>
              </a:rPr>
              <a:t>GSP=1 rows where (1) all four neighbourhood distances &lt; 1.0 (not nearest by TSS, footprint, mean-TSS, or mean-footprint), AND (2) all QTL colocalisation and E2G features are zero, AND (3) vepMaximum &lt; 0.6 (below protein-altering variant threshold, SO:0001818). Nearest-gene positives (any neighbourhood = 1.0) are always kept.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1581912"/>
            <a:ext cx="2697480" cy="1920240"/>
          </a:xfrm>
          <a:prstGeom prst="rect">
            <a:avLst/>
          </a:prstGeom>
          <a:solidFill>
            <a:srgbClr val="0A1E3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6459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</a:rPr>
              <a:t>22.4%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74320" y="23042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2,928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" y="267919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of 13,060 positives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297180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</a:rPr>
              <a:t>All dark matter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1581912"/>
            <a:ext cx="2697480" cy="1920240"/>
          </a:xfrm>
          <a:prstGeom prst="rect">
            <a:avLst/>
          </a:prstGeom>
          <a:solidFill>
            <a:srgbClr val="0A1E3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54680" y="16459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</a:rPr>
              <a:t>0.0%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154680" y="23042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54680" y="267919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of 7,201 nearest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54680" y="297180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</a:rPr>
              <a:t>Nearest TSS only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581912"/>
            <a:ext cx="2697480" cy="1920240"/>
          </a:xfrm>
          <a:prstGeom prst="rect">
            <a:avLst/>
          </a:prstGeom>
          <a:solidFill>
            <a:srgbClr val="0A1E3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35040" y="1645920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</a:rPr>
              <a:t>50.0%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035040" y="23042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2,928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35040" y="267919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of 5,859 non-nearest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2971800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</a:rPr>
              <a:t>Non-nearest only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364992"/>
            <a:ext cx="4114800" cy="1508760"/>
          </a:xfrm>
          <a:prstGeom prst="rect">
            <a:avLst/>
          </a:prstGeom>
          <a:solidFill>
            <a:srgbClr val="0A1E30"/>
          </a:solidFill>
          <a:ln w="12700">
            <a:solidFill>
              <a:srgbClr val="9447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3410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74C3C"/>
                </a:solidFill>
              </a:rPr>
              <a:t>What the model does with dark matter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11480" y="372160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Dark matter positives have feature vectors identical to thousands of negatives (QTL=0, E2G=0, VEP&lt;0.6, non-nearest). The model receives conflicting gradient signal — identical inputs labelled both 0 and 1 — degrading decision boundaries for the 77.6% of positives that are learnable.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3364992"/>
            <a:ext cx="4114800" cy="150876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2040" y="3410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B6D4"/>
                </a:solidFill>
              </a:rPr>
              <a:t>Recommendation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92040" y="372160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</a:rPr>
              <a:t>Remove loci where ALL positives are dark matter (2,639 studyLocusIds). Loci with mixed signal are kept in full.
</a:t>
            </a:r>
            <a:r>
              <a:rPr lang="en-US" sz="1050" b="1" dirty="0">
                <a:solidFill>
                  <a:srgbClr val="06B6D4"/>
                </a:solidFill>
              </a:rPr>
              <a:t xml:space="preserve">Effect: </a:t>
            </a:r>
            <a:r>
              <a:rPr lang="en-US" sz="1050" dirty="0">
                <a:solidFill>
                  <a:srgbClr val="CBD5E1"/>
                </a:solidFill>
              </a:rPr>
              <a:t>152,687 rows remain (−23.9%). Nearest-TSS proportion 55.1% → 69.4% (+14.3 pp). Non-nearest fold-change over negatives roughly doubles. 245 residual dark matter positives in mixed loci are retained by design.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1091</Words>
  <Application>Microsoft Macintosh PowerPoint</Application>
  <PresentationFormat>On-screen Show (16:9)</PresentationFormat>
  <Paragraphs>209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L2G Training Set Construction</dc:title>
  <dc:subject>PptxGenJS Presentation</dc:subject>
  <dc:creator>PptxGenJS</dc:creator>
  <cp:lastModifiedBy>Yakov Tsepilov</cp:lastModifiedBy>
  <cp:revision>2</cp:revision>
  <dcterms:created xsi:type="dcterms:W3CDTF">2026-05-08T16:41:59Z</dcterms:created>
  <dcterms:modified xsi:type="dcterms:W3CDTF">2026-05-08T21:26:45Z</dcterms:modified>
</cp:coreProperties>
</file>