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46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B6D4"/>
          </a:solidFill>
          <a:ln w="12700">
            <a:solidFill>
              <a:srgbClr val="06B6D4"/>
            </a:solidFill>
            <a:prstDash val="solid"/>
          </a:ln>
        </p:spPr>
        <p:txBody>
          <a:bodyPr/>
          <a:lstStyle/>
          <a:p>
            <a:endParaRPr lang="en-US"/>
          </a:p>
        </p:txBody>
      </p:sp>
      <p:sp>
        <p:nvSpPr>
          <p:cNvPr id="3" name="Shape 1"/>
          <p:cNvSpPr/>
          <p:nvPr/>
        </p:nvSpPr>
        <p:spPr>
          <a:xfrm>
            <a:off x="0" y="5052060"/>
            <a:ext cx="9144000" cy="91440"/>
          </a:xfrm>
          <a:prstGeom prst="rect">
            <a:avLst/>
          </a:prstGeom>
          <a:solidFill>
            <a:srgbClr val="06B6D4"/>
          </a:solidFill>
          <a:ln w="12700">
            <a:solidFill>
              <a:srgbClr val="06B6D4"/>
            </a:solidFill>
            <a:prstDash val="solid"/>
          </a:ln>
        </p:spPr>
        <p:txBody>
          <a:bodyPr/>
          <a:lstStyle/>
          <a:p>
            <a:endParaRPr lang="en-US"/>
          </a:p>
        </p:txBody>
      </p:sp>
      <p:sp>
        <p:nvSpPr>
          <p:cNvPr id="4" name="Shape 2"/>
          <p:cNvSpPr/>
          <p:nvPr/>
        </p:nvSpPr>
        <p:spPr>
          <a:xfrm>
            <a:off x="0" y="91440"/>
            <a:ext cx="274320" cy="4960620"/>
          </a:xfrm>
          <a:prstGeom prst="rect">
            <a:avLst/>
          </a:prstGeom>
          <a:solidFill>
            <a:srgbClr val="0E7490"/>
          </a:solidFill>
          <a:ln w="12700">
            <a:solidFill>
              <a:srgbClr val="0E7490"/>
            </a:solidFill>
            <a:prstDash val="solid"/>
          </a:ln>
        </p:spPr>
        <p:txBody>
          <a:bodyPr/>
          <a:lstStyle/>
          <a:p>
            <a:endParaRPr lang="en-US"/>
          </a:p>
        </p:txBody>
      </p:sp>
      <p:sp>
        <p:nvSpPr>
          <p:cNvPr id="5" name="Text 3"/>
          <p:cNvSpPr/>
          <p:nvPr/>
        </p:nvSpPr>
        <p:spPr>
          <a:xfrm>
            <a:off x="548640" y="1188720"/>
            <a:ext cx="8229600" cy="118872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L2G Training Set Construction</a:t>
            </a:r>
            <a:endParaRPr lang="en-US" sz="4200" dirty="0"/>
          </a:p>
        </p:txBody>
      </p:sp>
      <p:sp>
        <p:nvSpPr>
          <p:cNvPr id="6" name="Text 4"/>
          <p:cNvSpPr/>
          <p:nvPr/>
        </p:nvSpPr>
        <p:spPr>
          <a:xfrm>
            <a:off x="548640" y="2514600"/>
            <a:ext cx="8229600" cy="548640"/>
          </a:xfrm>
          <a:prstGeom prst="rect">
            <a:avLst/>
          </a:prstGeom>
          <a:noFill/>
          <a:ln/>
        </p:spPr>
        <p:txBody>
          <a:bodyPr wrap="square" lIns="0" tIns="0" rIns="0" bIns="0" rtlCol="0" anchor="ctr"/>
          <a:lstStyle/>
          <a:p>
            <a:pPr marL="0" indent="0" algn="l">
              <a:buNone/>
            </a:pPr>
            <a:r>
              <a:rPr lang="en-US" sz="2200" dirty="0">
                <a:solidFill>
                  <a:srgbClr val="06B6D4"/>
                </a:solidFill>
                <a:latin typeface="Calibri" pitchFamily="34" charset="0"/>
                <a:ea typeface="Calibri" pitchFamily="34" charset="-122"/>
                <a:cs typeface="Calibri" pitchFamily="34" charset="-120"/>
              </a:rPr>
              <a:t>Release Comparison: Open Targets 25.06 vs 26.03</a:t>
            </a:r>
            <a:endParaRPr lang="en-US" sz="2200" dirty="0"/>
          </a:p>
        </p:txBody>
      </p:sp>
      <p:sp>
        <p:nvSpPr>
          <p:cNvPr id="7" name="Text 5"/>
          <p:cNvSpPr/>
          <p:nvPr/>
        </p:nvSpPr>
        <p:spPr>
          <a:xfrm>
            <a:off x="548640" y="3246120"/>
            <a:ext cx="8229600" cy="32004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Locus-to-Gene (L2G) Scoring Framework  ·  Effector Gene List &amp; Training Set Pipeline</a:t>
            </a:r>
            <a:endParaRPr lang="en-US" sz="1300" dirty="0"/>
          </a:p>
        </p:txBody>
      </p:sp>
      <p:sp>
        <p:nvSpPr>
          <p:cNvPr id="8" name="Shape 6"/>
          <p:cNvSpPr/>
          <p:nvPr/>
        </p:nvSpPr>
        <p:spPr>
          <a:xfrm>
            <a:off x="548640" y="3840480"/>
            <a:ext cx="2560320" cy="1005840"/>
          </a:xfrm>
          <a:prstGeom prst="rect">
            <a:avLst/>
          </a:prstGeom>
          <a:solidFill>
            <a:srgbClr val="0A1E30"/>
          </a:solidFill>
          <a:ln w="12700">
            <a:solidFill>
              <a:srgbClr val="0E7490"/>
            </a:solidFill>
            <a:prstDash val="solid"/>
          </a:ln>
        </p:spPr>
        <p:txBody>
          <a:bodyPr/>
          <a:lstStyle/>
          <a:p>
            <a:endParaRPr lang="en-US"/>
          </a:p>
        </p:txBody>
      </p:sp>
      <p:sp>
        <p:nvSpPr>
          <p:cNvPr id="9" name="Text 7"/>
          <p:cNvSpPr/>
          <p:nvPr/>
        </p:nvSpPr>
        <p:spPr>
          <a:xfrm>
            <a:off x="548640" y="3886200"/>
            <a:ext cx="2560320" cy="502920"/>
          </a:xfrm>
          <a:prstGeom prst="rect">
            <a:avLst/>
          </a:prstGeom>
          <a:noFill/>
          <a:ln/>
        </p:spPr>
        <p:txBody>
          <a:bodyPr wrap="square" lIns="0" tIns="0" rIns="0" bIns="0" rtlCol="0" anchor="ctr"/>
          <a:lstStyle/>
          <a:p>
            <a:pPr marL="0" indent="0" algn="ctr">
              <a:buNone/>
            </a:pPr>
            <a:r>
              <a:rPr lang="en-US" sz="2600" b="1" dirty="0">
                <a:solidFill>
                  <a:srgbClr val="06B6D4"/>
                </a:solidFill>
              </a:rPr>
              <a:t>55,003</a:t>
            </a:r>
            <a:endParaRPr lang="en-US" sz="2600" dirty="0"/>
          </a:p>
        </p:txBody>
      </p:sp>
      <p:sp>
        <p:nvSpPr>
          <p:cNvPr id="10" name="Text 8"/>
          <p:cNvSpPr/>
          <p:nvPr/>
        </p:nvSpPr>
        <p:spPr>
          <a:xfrm>
            <a:off x="548640" y="4389120"/>
            <a:ext cx="2560320" cy="274320"/>
          </a:xfrm>
          <a:prstGeom prst="rect">
            <a:avLst/>
          </a:prstGeom>
          <a:noFill/>
          <a:ln/>
        </p:spPr>
        <p:txBody>
          <a:bodyPr wrap="square" lIns="0" tIns="0" rIns="0" bIns="0" rtlCol="0" anchor="ctr"/>
          <a:lstStyle/>
          <a:p>
            <a:pPr marL="0" indent="0" algn="ctr">
              <a:buNone/>
            </a:pPr>
            <a:r>
              <a:rPr lang="en-US" sz="1200" dirty="0">
                <a:solidFill>
                  <a:srgbClr val="94A3B8"/>
                </a:solidFill>
              </a:rPr>
              <a:t>EGL pairs</a:t>
            </a:r>
            <a:endParaRPr lang="en-US" sz="1200" dirty="0"/>
          </a:p>
        </p:txBody>
      </p:sp>
      <p:sp>
        <p:nvSpPr>
          <p:cNvPr id="11" name="Shape 9"/>
          <p:cNvSpPr/>
          <p:nvPr/>
        </p:nvSpPr>
        <p:spPr>
          <a:xfrm>
            <a:off x="3383280" y="3840480"/>
            <a:ext cx="2560320" cy="1005840"/>
          </a:xfrm>
          <a:prstGeom prst="rect">
            <a:avLst/>
          </a:prstGeom>
          <a:solidFill>
            <a:srgbClr val="0A1E30"/>
          </a:solidFill>
          <a:ln w="12700">
            <a:solidFill>
              <a:srgbClr val="0E7490"/>
            </a:solidFill>
            <a:prstDash val="solid"/>
          </a:ln>
        </p:spPr>
        <p:txBody>
          <a:bodyPr/>
          <a:lstStyle/>
          <a:p>
            <a:endParaRPr lang="en-US"/>
          </a:p>
        </p:txBody>
      </p:sp>
      <p:sp>
        <p:nvSpPr>
          <p:cNvPr id="12" name="Text 10"/>
          <p:cNvSpPr/>
          <p:nvPr/>
        </p:nvSpPr>
        <p:spPr>
          <a:xfrm>
            <a:off x="3383280" y="3886200"/>
            <a:ext cx="2560320" cy="502920"/>
          </a:xfrm>
          <a:prstGeom prst="rect">
            <a:avLst/>
          </a:prstGeom>
          <a:noFill/>
          <a:ln/>
        </p:spPr>
        <p:txBody>
          <a:bodyPr wrap="square" lIns="0" tIns="0" rIns="0" bIns="0" rtlCol="0" anchor="ctr"/>
          <a:lstStyle/>
          <a:p>
            <a:pPr marL="0" indent="0" algn="ctr">
              <a:buNone/>
            </a:pPr>
            <a:r>
              <a:rPr lang="en-US" sz="2600" b="1" dirty="0">
                <a:solidFill>
                  <a:srgbClr val="06B6D4"/>
                </a:solidFill>
              </a:rPr>
              <a:t>200,536</a:t>
            </a:r>
            <a:endParaRPr lang="en-US" sz="2600" dirty="0"/>
          </a:p>
        </p:txBody>
      </p:sp>
      <p:sp>
        <p:nvSpPr>
          <p:cNvPr id="13" name="Text 11"/>
          <p:cNvSpPr/>
          <p:nvPr/>
        </p:nvSpPr>
        <p:spPr>
          <a:xfrm>
            <a:off x="3383280" y="4389120"/>
            <a:ext cx="2560320" cy="274320"/>
          </a:xfrm>
          <a:prstGeom prst="rect">
            <a:avLst/>
          </a:prstGeom>
          <a:noFill/>
          <a:ln/>
        </p:spPr>
        <p:txBody>
          <a:bodyPr wrap="square" lIns="0" tIns="0" rIns="0" bIns="0" rtlCol="0" anchor="ctr"/>
          <a:lstStyle/>
          <a:p>
            <a:pPr marL="0" indent="0" algn="ctr">
              <a:buNone/>
            </a:pPr>
            <a:r>
              <a:rPr lang="en-US" sz="1200" dirty="0">
                <a:solidFill>
                  <a:srgbClr val="94A3B8"/>
                </a:solidFill>
              </a:rPr>
              <a:t>Training rows</a:t>
            </a:r>
            <a:endParaRPr lang="en-US" sz="1200" dirty="0"/>
          </a:p>
        </p:txBody>
      </p:sp>
      <p:sp>
        <p:nvSpPr>
          <p:cNvPr id="14" name="Shape 12"/>
          <p:cNvSpPr/>
          <p:nvPr/>
        </p:nvSpPr>
        <p:spPr>
          <a:xfrm>
            <a:off x="6217920" y="3840480"/>
            <a:ext cx="2560320" cy="1005840"/>
          </a:xfrm>
          <a:prstGeom prst="rect">
            <a:avLst/>
          </a:prstGeom>
          <a:solidFill>
            <a:srgbClr val="0A1E30"/>
          </a:solidFill>
          <a:ln w="12700">
            <a:solidFill>
              <a:srgbClr val="0E7490"/>
            </a:solidFill>
            <a:prstDash val="solid"/>
          </a:ln>
        </p:spPr>
        <p:txBody>
          <a:bodyPr/>
          <a:lstStyle/>
          <a:p>
            <a:endParaRPr lang="en-US"/>
          </a:p>
        </p:txBody>
      </p:sp>
      <p:sp>
        <p:nvSpPr>
          <p:cNvPr id="15" name="Text 13"/>
          <p:cNvSpPr/>
          <p:nvPr/>
        </p:nvSpPr>
        <p:spPr>
          <a:xfrm>
            <a:off x="6217920" y="3886200"/>
            <a:ext cx="2560320" cy="502920"/>
          </a:xfrm>
          <a:prstGeom prst="rect">
            <a:avLst/>
          </a:prstGeom>
          <a:noFill/>
          <a:ln/>
        </p:spPr>
        <p:txBody>
          <a:bodyPr wrap="square" lIns="0" tIns="0" rIns="0" bIns="0" rtlCol="0" anchor="ctr"/>
          <a:lstStyle/>
          <a:p>
            <a:pPr marL="0" indent="0" algn="ctr">
              <a:buNone/>
            </a:pPr>
            <a:r>
              <a:rPr lang="en-US" sz="2600" b="1" dirty="0">
                <a:solidFill>
                  <a:srgbClr val="06B6D4"/>
                </a:solidFill>
              </a:rPr>
              <a:t>13,060</a:t>
            </a:r>
            <a:endParaRPr lang="en-US" sz="2600" dirty="0"/>
          </a:p>
        </p:txBody>
      </p:sp>
      <p:sp>
        <p:nvSpPr>
          <p:cNvPr id="16" name="Text 14"/>
          <p:cNvSpPr/>
          <p:nvPr/>
        </p:nvSpPr>
        <p:spPr>
          <a:xfrm>
            <a:off x="6217920" y="4389120"/>
            <a:ext cx="2560320" cy="274320"/>
          </a:xfrm>
          <a:prstGeom prst="rect">
            <a:avLst/>
          </a:prstGeom>
          <a:noFill/>
          <a:ln/>
        </p:spPr>
        <p:txBody>
          <a:bodyPr wrap="square" lIns="0" tIns="0" rIns="0" bIns="0" rtlCol="0" anchor="ctr"/>
          <a:lstStyle/>
          <a:p>
            <a:pPr marL="0" indent="0" algn="ctr">
              <a:buNone/>
            </a:pPr>
            <a:r>
              <a:rPr lang="en-US" sz="1200" dirty="0">
                <a:solidFill>
                  <a:srgbClr val="94A3B8"/>
                </a:solidFill>
              </a:rPr>
              <a:t>Positives (GSP)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2B45"/>
          </a:solidFill>
          <a:ln w="12700">
            <a:solidFill>
              <a:srgbClr val="0D2B45"/>
            </a:solidFill>
            <a:prstDash val="solid"/>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Pipeline Overview</a:t>
            </a:r>
            <a:endParaRPr lang="en-US" sz="2200" dirty="0"/>
          </a:p>
        </p:txBody>
      </p:sp>
      <p:sp>
        <p:nvSpPr>
          <p:cNvPr id="4" name="Shape 2"/>
          <p:cNvSpPr/>
          <p:nvPr/>
        </p:nvSpPr>
        <p:spPr>
          <a:xfrm>
            <a:off x="320040" y="822960"/>
            <a:ext cx="3886200" cy="406908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5" name="Shape 3"/>
          <p:cNvSpPr/>
          <p:nvPr/>
        </p:nvSpPr>
        <p:spPr>
          <a:xfrm>
            <a:off x="320040" y="822960"/>
            <a:ext cx="3886200" cy="64008"/>
          </a:xfrm>
          <a:prstGeom prst="rect">
            <a:avLst/>
          </a:prstGeom>
          <a:solidFill>
            <a:srgbClr val="0E7490"/>
          </a:solidFill>
          <a:ln w="12700">
            <a:solidFill>
              <a:srgbClr val="0E7490"/>
            </a:solidFill>
            <a:prstDash val="solid"/>
          </a:ln>
        </p:spPr>
        <p:txBody>
          <a:bodyPr/>
          <a:lstStyle/>
          <a:p>
            <a:endParaRPr lang="en-US"/>
          </a:p>
        </p:txBody>
      </p:sp>
      <p:sp>
        <p:nvSpPr>
          <p:cNvPr id="6" name="Text 4"/>
          <p:cNvSpPr/>
          <p:nvPr/>
        </p:nvSpPr>
        <p:spPr>
          <a:xfrm>
            <a:off x="457200" y="886968"/>
            <a:ext cx="1371600" cy="320040"/>
          </a:xfrm>
          <a:prstGeom prst="rect">
            <a:avLst/>
          </a:prstGeom>
          <a:noFill/>
          <a:ln/>
        </p:spPr>
        <p:txBody>
          <a:bodyPr wrap="square" lIns="0" tIns="0" rIns="0" bIns="0" rtlCol="0" anchor="ctr"/>
          <a:lstStyle/>
          <a:p>
            <a:pPr marL="0" indent="0">
              <a:buNone/>
            </a:pPr>
            <a:r>
              <a:rPr lang="en-US" sz="1000" b="1" dirty="0">
                <a:solidFill>
                  <a:srgbClr val="0E7490"/>
                </a:solidFill>
              </a:rPr>
              <a:t>STAGE 1</a:t>
            </a:r>
            <a:endParaRPr lang="en-US" sz="1000" dirty="0"/>
          </a:p>
        </p:txBody>
      </p:sp>
      <p:sp>
        <p:nvSpPr>
          <p:cNvPr id="7" name="Text 5"/>
          <p:cNvSpPr/>
          <p:nvPr/>
        </p:nvSpPr>
        <p:spPr>
          <a:xfrm>
            <a:off x="457200" y="1207008"/>
            <a:ext cx="3657600" cy="411480"/>
          </a:xfrm>
          <a:prstGeom prst="rect">
            <a:avLst/>
          </a:prstGeom>
          <a:noFill/>
          <a:ln/>
        </p:spPr>
        <p:txBody>
          <a:bodyPr wrap="square" lIns="0" tIns="0" rIns="0" bIns="0" rtlCol="0" anchor="ctr"/>
          <a:lstStyle/>
          <a:p>
            <a:pPr marL="0" indent="0">
              <a:buNone/>
            </a:pPr>
            <a:r>
              <a:rPr lang="en-US" sz="1800" b="1" dirty="0">
                <a:solidFill>
                  <a:srgbClr val="1E293B"/>
                </a:solidFill>
              </a:rPr>
              <a:t>Effector Gene List (EGL)</a:t>
            </a:r>
            <a:endParaRPr lang="en-US" sz="1800" dirty="0"/>
          </a:p>
        </p:txBody>
      </p:sp>
      <p:sp>
        <p:nvSpPr>
          <p:cNvPr id="8" name="Text 6"/>
          <p:cNvSpPr/>
          <p:nvPr/>
        </p:nvSpPr>
        <p:spPr>
          <a:xfrm>
            <a:off x="457200" y="1664208"/>
            <a:ext cx="3657600" cy="594360"/>
          </a:xfrm>
          <a:prstGeom prst="rect">
            <a:avLst/>
          </a:prstGeom>
          <a:noFill/>
          <a:ln/>
        </p:spPr>
        <p:txBody>
          <a:bodyPr wrap="square" lIns="0" tIns="0" rIns="0" bIns="0" rtlCol="0" anchor="ctr"/>
          <a:lstStyle/>
          <a:p>
            <a:pPr marL="0" indent="0">
              <a:buNone/>
            </a:pPr>
            <a:r>
              <a:rPr lang="en-US" sz="1200" dirty="0">
                <a:solidFill>
                  <a:srgbClr val="475569"/>
                </a:solidFill>
              </a:rPr>
              <a:t>Three independent evidence sources combined</a:t>
            </a:r>
            <a:endParaRPr lang="en-US" sz="1200" dirty="0"/>
          </a:p>
          <a:p>
            <a:pPr marL="0" indent="0">
              <a:buNone/>
            </a:pPr>
            <a:r>
              <a:rPr lang="en-US" sz="1200" dirty="0">
                <a:solidFill>
                  <a:srgbClr val="475569"/>
                </a:solidFill>
              </a:rPr>
              <a:t>into a single positive-label gene–disease set.</a:t>
            </a:r>
            <a:endParaRPr lang="en-US" sz="1200" dirty="0"/>
          </a:p>
        </p:txBody>
      </p:sp>
      <p:sp>
        <p:nvSpPr>
          <p:cNvPr id="9" name="Shape 7"/>
          <p:cNvSpPr/>
          <p:nvPr/>
        </p:nvSpPr>
        <p:spPr>
          <a:xfrm>
            <a:off x="457200" y="2331720"/>
            <a:ext cx="54864" cy="530352"/>
          </a:xfrm>
          <a:prstGeom prst="rect">
            <a:avLst/>
          </a:prstGeom>
          <a:solidFill>
            <a:srgbClr val="0E7490"/>
          </a:solidFill>
          <a:ln w="12700">
            <a:solidFill>
              <a:srgbClr val="0E7490"/>
            </a:solidFill>
            <a:prstDash val="solid"/>
          </a:ln>
        </p:spPr>
        <p:txBody>
          <a:bodyPr/>
          <a:lstStyle/>
          <a:p>
            <a:endParaRPr lang="en-US"/>
          </a:p>
        </p:txBody>
      </p:sp>
      <p:sp>
        <p:nvSpPr>
          <p:cNvPr id="10" name="Text 8"/>
          <p:cNvSpPr/>
          <p:nvPr/>
        </p:nvSpPr>
        <p:spPr>
          <a:xfrm>
            <a:off x="594360" y="2331720"/>
            <a:ext cx="3474720" cy="256032"/>
          </a:xfrm>
          <a:prstGeom prst="rect">
            <a:avLst/>
          </a:prstGeom>
          <a:noFill/>
          <a:ln/>
        </p:spPr>
        <p:txBody>
          <a:bodyPr wrap="square" lIns="0" tIns="0" rIns="0" bIns="0" rtlCol="0" anchor="ctr"/>
          <a:lstStyle/>
          <a:p>
            <a:pPr marL="0" indent="0">
              <a:buNone/>
            </a:pPr>
            <a:r>
              <a:rPr lang="en-US" sz="1200" b="1" dirty="0">
                <a:solidFill>
                  <a:srgbClr val="1E293B"/>
                </a:solidFill>
              </a:rPr>
              <a:t>Rare Variant Evidence</a:t>
            </a:r>
            <a:endParaRPr lang="en-US" sz="1200" dirty="0"/>
          </a:p>
        </p:txBody>
      </p:sp>
      <p:sp>
        <p:nvSpPr>
          <p:cNvPr id="11" name="Text 9"/>
          <p:cNvSpPr/>
          <p:nvPr/>
        </p:nvSpPr>
        <p:spPr>
          <a:xfrm>
            <a:off x="594360" y="2587752"/>
            <a:ext cx="3474720" cy="320040"/>
          </a:xfrm>
          <a:prstGeom prst="rect">
            <a:avLst/>
          </a:prstGeom>
          <a:noFill/>
          <a:ln/>
        </p:spPr>
        <p:txBody>
          <a:bodyPr wrap="square" lIns="0" tIns="0" rIns="0" bIns="0" rtlCol="0" anchor="ctr"/>
          <a:lstStyle/>
          <a:p>
            <a:pPr marL="0" indent="0">
              <a:buNone/>
            </a:pPr>
            <a:r>
              <a:rPr lang="en-US" sz="1000" dirty="0">
                <a:solidFill>
                  <a:srgbClr val="475569"/>
                </a:solidFill>
              </a:rPr>
              <a:t>EVA · Genomics England · UniProt</a:t>
            </a:r>
            <a:endParaRPr lang="en-US" sz="1000" dirty="0"/>
          </a:p>
          <a:p>
            <a:pPr marL="0" indent="0">
              <a:buNone/>
            </a:pPr>
            <a:r>
              <a:rPr lang="en-US" sz="1000" dirty="0">
                <a:solidFill>
                  <a:srgbClr val="475569"/>
                </a:solidFill>
              </a:rPr>
              <a:t>Gene2Phenotype · ClinGen · Orphanet</a:t>
            </a:r>
            <a:endParaRPr lang="en-US" sz="1000" dirty="0"/>
          </a:p>
          <a:p>
            <a:pPr marL="0" indent="0">
              <a:buNone/>
            </a:pPr>
            <a:r>
              <a:rPr lang="en-US" sz="1000" dirty="0">
                <a:solidFill>
                  <a:srgbClr val="475569"/>
                </a:solidFill>
              </a:rPr>
              <a:t>Score threshold: ≥ 0.75 (26.03) / ≥ 0.95 (25.06)</a:t>
            </a:r>
            <a:endParaRPr lang="en-US" sz="1000" dirty="0"/>
          </a:p>
        </p:txBody>
      </p:sp>
      <p:sp>
        <p:nvSpPr>
          <p:cNvPr id="12" name="Shape 10"/>
          <p:cNvSpPr/>
          <p:nvPr/>
        </p:nvSpPr>
        <p:spPr>
          <a:xfrm>
            <a:off x="457200" y="3017520"/>
            <a:ext cx="54864" cy="530352"/>
          </a:xfrm>
          <a:prstGeom prst="rect">
            <a:avLst/>
          </a:prstGeom>
          <a:solidFill>
            <a:srgbClr val="0E7490"/>
          </a:solidFill>
          <a:ln w="12700">
            <a:solidFill>
              <a:srgbClr val="0E7490"/>
            </a:solidFill>
            <a:prstDash val="solid"/>
          </a:ln>
        </p:spPr>
        <p:txBody>
          <a:bodyPr/>
          <a:lstStyle/>
          <a:p>
            <a:endParaRPr lang="en-US"/>
          </a:p>
        </p:txBody>
      </p:sp>
      <p:sp>
        <p:nvSpPr>
          <p:cNvPr id="13" name="Text 11"/>
          <p:cNvSpPr/>
          <p:nvPr/>
        </p:nvSpPr>
        <p:spPr>
          <a:xfrm>
            <a:off x="594360" y="3017520"/>
            <a:ext cx="3474720" cy="256032"/>
          </a:xfrm>
          <a:prstGeom prst="rect">
            <a:avLst/>
          </a:prstGeom>
          <a:noFill/>
          <a:ln/>
        </p:spPr>
        <p:txBody>
          <a:bodyPr wrap="square" lIns="0" tIns="0" rIns="0" bIns="0" rtlCol="0" anchor="ctr"/>
          <a:lstStyle/>
          <a:p>
            <a:pPr marL="0" indent="0">
              <a:buNone/>
            </a:pPr>
            <a:r>
              <a:rPr lang="en-US" sz="1200" b="1" dirty="0">
                <a:solidFill>
                  <a:srgbClr val="1E293B"/>
                </a:solidFill>
              </a:rPr>
              <a:t>ChEMBL Clinical Precedence</a:t>
            </a:r>
            <a:endParaRPr lang="en-US" sz="1200" dirty="0"/>
          </a:p>
        </p:txBody>
      </p:sp>
      <p:sp>
        <p:nvSpPr>
          <p:cNvPr id="14" name="Text 12"/>
          <p:cNvSpPr/>
          <p:nvPr/>
        </p:nvSpPr>
        <p:spPr>
          <a:xfrm>
            <a:off x="594360" y="3273552"/>
            <a:ext cx="3474720" cy="320040"/>
          </a:xfrm>
          <a:prstGeom prst="rect">
            <a:avLst/>
          </a:prstGeom>
          <a:noFill/>
          <a:ln/>
        </p:spPr>
        <p:txBody>
          <a:bodyPr wrap="square" lIns="0" tIns="0" rIns="0" bIns="0" rtlCol="0" anchor="ctr"/>
          <a:lstStyle/>
          <a:p>
            <a:pPr marL="0" indent="0">
              <a:buNone/>
            </a:pPr>
            <a:r>
              <a:rPr lang="en-US" sz="1000" dirty="0">
                <a:solidFill>
                  <a:srgbClr val="475569"/>
                </a:solidFill>
              </a:rPr>
              <a:t>Phase 3+ approved drug–target pairs</a:t>
            </a:r>
            <a:endParaRPr lang="en-US" sz="1000" dirty="0"/>
          </a:p>
          <a:p>
            <a:pPr marL="0" indent="0">
              <a:buNone/>
            </a:pPr>
            <a:r>
              <a:rPr lang="en-US" sz="1000" dirty="0">
                <a:solidFill>
                  <a:srgbClr val="475569"/>
                </a:solidFill>
              </a:rPr>
              <a:t>(PHASE_3, PHASE_4, APPROVAL, PREAPPROVAL)</a:t>
            </a:r>
            <a:endParaRPr lang="en-US" sz="1000" dirty="0"/>
          </a:p>
        </p:txBody>
      </p:sp>
      <p:sp>
        <p:nvSpPr>
          <p:cNvPr id="15" name="Shape 13"/>
          <p:cNvSpPr/>
          <p:nvPr/>
        </p:nvSpPr>
        <p:spPr>
          <a:xfrm>
            <a:off x="457200" y="3703320"/>
            <a:ext cx="54864" cy="530352"/>
          </a:xfrm>
          <a:prstGeom prst="rect">
            <a:avLst/>
          </a:prstGeom>
          <a:solidFill>
            <a:srgbClr val="0E7490"/>
          </a:solidFill>
          <a:ln w="12700">
            <a:solidFill>
              <a:srgbClr val="0E7490"/>
            </a:solidFill>
            <a:prstDash val="solid"/>
          </a:ln>
        </p:spPr>
        <p:txBody>
          <a:bodyPr/>
          <a:lstStyle/>
          <a:p>
            <a:endParaRPr lang="en-US"/>
          </a:p>
        </p:txBody>
      </p:sp>
      <p:sp>
        <p:nvSpPr>
          <p:cNvPr id="16" name="Text 14"/>
          <p:cNvSpPr/>
          <p:nvPr/>
        </p:nvSpPr>
        <p:spPr>
          <a:xfrm>
            <a:off x="594360" y="3703320"/>
            <a:ext cx="3474720" cy="256032"/>
          </a:xfrm>
          <a:prstGeom prst="rect">
            <a:avLst/>
          </a:prstGeom>
          <a:noFill/>
          <a:ln/>
        </p:spPr>
        <p:txBody>
          <a:bodyPr wrap="square" lIns="0" tIns="0" rIns="0" bIns="0" rtlCol="0" anchor="ctr"/>
          <a:lstStyle/>
          <a:p>
            <a:pPr marL="0" indent="0">
              <a:buNone/>
            </a:pPr>
            <a:r>
              <a:rPr lang="en-US" sz="1200" b="1" dirty="0">
                <a:solidFill>
                  <a:srgbClr val="1E293B"/>
                </a:solidFill>
              </a:rPr>
              <a:t>Legacy OTG Gold Standard</a:t>
            </a:r>
            <a:endParaRPr lang="en-US" sz="1200" dirty="0"/>
          </a:p>
        </p:txBody>
      </p:sp>
      <p:sp>
        <p:nvSpPr>
          <p:cNvPr id="17" name="Text 15"/>
          <p:cNvSpPr/>
          <p:nvPr/>
        </p:nvSpPr>
        <p:spPr>
          <a:xfrm>
            <a:off x="594360" y="3959352"/>
            <a:ext cx="3474720" cy="320040"/>
          </a:xfrm>
          <a:prstGeom prst="rect">
            <a:avLst/>
          </a:prstGeom>
          <a:noFill/>
          <a:ln/>
        </p:spPr>
        <p:txBody>
          <a:bodyPr wrap="square" lIns="0" tIns="0" rIns="0" bIns="0" rtlCol="0" anchor="ctr"/>
          <a:lstStyle/>
          <a:p>
            <a:pPr marL="0" indent="0">
              <a:buNone/>
            </a:pPr>
            <a:r>
              <a:rPr lang="en-US" sz="1000" dirty="0">
                <a:solidFill>
                  <a:srgbClr val="475569"/>
                </a:solidFill>
              </a:rPr>
              <a:t>Curated high/medium-confidence locus–gene</a:t>
            </a:r>
            <a:endParaRPr lang="en-US" sz="1000" dirty="0"/>
          </a:p>
          <a:p>
            <a:pPr marL="0" indent="0">
              <a:buNone/>
            </a:pPr>
            <a:r>
              <a:rPr lang="en-US" sz="1000" dirty="0">
                <a:solidFill>
                  <a:srgbClr val="475569"/>
                </a:solidFill>
              </a:rPr>
              <a:t>assignments (otg_gs_230511.json)</a:t>
            </a:r>
            <a:endParaRPr lang="en-US" sz="1000" dirty="0"/>
          </a:p>
        </p:txBody>
      </p:sp>
      <p:sp>
        <p:nvSpPr>
          <p:cNvPr id="18" name="Text 16"/>
          <p:cNvSpPr/>
          <p:nvPr/>
        </p:nvSpPr>
        <p:spPr>
          <a:xfrm>
            <a:off x="4251960" y="2468880"/>
            <a:ext cx="640080" cy="457200"/>
          </a:xfrm>
          <a:prstGeom prst="rect">
            <a:avLst/>
          </a:prstGeom>
          <a:noFill/>
          <a:ln/>
        </p:spPr>
        <p:txBody>
          <a:bodyPr wrap="square" lIns="0" tIns="0" rIns="0" bIns="0" rtlCol="0" anchor="ctr"/>
          <a:lstStyle/>
          <a:p>
            <a:pPr marL="0" indent="0" algn="ctr">
              <a:buNone/>
            </a:pPr>
            <a:r>
              <a:rPr lang="en-US" sz="3200" b="1" dirty="0">
                <a:solidFill>
                  <a:srgbClr val="0E7490"/>
                </a:solidFill>
              </a:rPr>
              <a:t>→</a:t>
            </a:r>
            <a:endParaRPr lang="en-US" sz="3200" dirty="0"/>
          </a:p>
        </p:txBody>
      </p:sp>
      <p:sp>
        <p:nvSpPr>
          <p:cNvPr id="19" name="Shape 17"/>
          <p:cNvSpPr/>
          <p:nvPr/>
        </p:nvSpPr>
        <p:spPr>
          <a:xfrm>
            <a:off x="4937760" y="822960"/>
            <a:ext cx="3886200" cy="406908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20" name="Shape 18"/>
          <p:cNvSpPr/>
          <p:nvPr/>
        </p:nvSpPr>
        <p:spPr>
          <a:xfrm>
            <a:off x="4937760" y="822960"/>
            <a:ext cx="3886200" cy="64008"/>
          </a:xfrm>
          <a:prstGeom prst="rect">
            <a:avLst/>
          </a:prstGeom>
          <a:solidFill>
            <a:srgbClr val="D97706"/>
          </a:solidFill>
          <a:ln w="12700">
            <a:solidFill>
              <a:srgbClr val="D97706"/>
            </a:solidFill>
            <a:prstDash val="solid"/>
          </a:ln>
        </p:spPr>
        <p:txBody>
          <a:bodyPr/>
          <a:lstStyle/>
          <a:p>
            <a:endParaRPr lang="en-US"/>
          </a:p>
        </p:txBody>
      </p:sp>
      <p:sp>
        <p:nvSpPr>
          <p:cNvPr id="21" name="Text 19"/>
          <p:cNvSpPr/>
          <p:nvPr/>
        </p:nvSpPr>
        <p:spPr>
          <a:xfrm>
            <a:off x="5074920" y="886968"/>
            <a:ext cx="1371600" cy="320040"/>
          </a:xfrm>
          <a:prstGeom prst="rect">
            <a:avLst/>
          </a:prstGeom>
          <a:noFill/>
          <a:ln/>
        </p:spPr>
        <p:txBody>
          <a:bodyPr wrap="square" lIns="0" tIns="0" rIns="0" bIns="0" rtlCol="0" anchor="ctr"/>
          <a:lstStyle/>
          <a:p>
            <a:pPr marL="0" indent="0">
              <a:buNone/>
            </a:pPr>
            <a:r>
              <a:rPr lang="en-US" sz="1000" b="1" dirty="0">
                <a:solidFill>
                  <a:srgbClr val="D97706"/>
                </a:solidFill>
              </a:rPr>
              <a:t>STAGE 2</a:t>
            </a:r>
            <a:endParaRPr lang="en-US" sz="1000" dirty="0"/>
          </a:p>
        </p:txBody>
      </p:sp>
      <p:sp>
        <p:nvSpPr>
          <p:cNvPr id="22" name="Text 20"/>
          <p:cNvSpPr/>
          <p:nvPr/>
        </p:nvSpPr>
        <p:spPr>
          <a:xfrm>
            <a:off x="5074920" y="1207008"/>
            <a:ext cx="3657600" cy="411480"/>
          </a:xfrm>
          <a:prstGeom prst="rect">
            <a:avLst/>
          </a:prstGeom>
          <a:noFill/>
          <a:ln/>
        </p:spPr>
        <p:txBody>
          <a:bodyPr wrap="square" lIns="0" tIns="0" rIns="0" bIns="0" rtlCol="0" anchor="ctr"/>
          <a:lstStyle/>
          <a:p>
            <a:pPr marL="0" indent="0">
              <a:buNone/>
            </a:pPr>
            <a:r>
              <a:rPr lang="en-US" sz="1800" b="1" dirty="0">
                <a:solidFill>
                  <a:srgbClr val="1E293B"/>
                </a:solidFill>
              </a:rPr>
              <a:t>Training Set Construction</a:t>
            </a:r>
            <a:endParaRPr lang="en-US" sz="1800" dirty="0"/>
          </a:p>
        </p:txBody>
      </p:sp>
      <p:sp>
        <p:nvSpPr>
          <p:cNvPr id="23" name="Text 21"/>
          <p:cNvSpPr/>
          <p:nvPr/>
        </p:nvSpPr>
        <p:spPr>
          <a:xfrm>
            <a:off x="5074920" y="1664208"/>
            <a:ext cx="3657600" cy="594360"/>
          </a:xfrm>
          <a:prstGeom prst="rect">
            <a:avLst/>
          </a:prstGeom>
          <a:noFill/>
          <a:ln/>
        </p:spPr>
        <p:txBody>
          <a:bodyPr wrap="square" lIns="0" tIns="0" rIns="0" bIns="0" rtlCol="0" anchor="ctr"/>
          <a:lstStyle/>
          <a:p>
            <a:pPr marL="0" indent="0">
              <a:buNone/>
            </a:pPr>
            <a:r>
              <a:rPr lang="en-US" sz="1200" dirty="0">
                <a:solidFill>
                  <a:srgbClr val="475569"/>
                </a:solidFill>
              </a:rPr>
              <a:t>EGL joined to L2G feature matrix, then</a:t>
            </a:r>
            <a:endParaRPr lang="en-US" sz="1200" dirty="0"/>
          </a:p>
          <a:p>
            <a:pPr marL="0" indent="0">
              <a:buNone/>
            </a:pPr>
            <a:r>
              <a:rPr lang="en-US" sz="1200" dirty="0">
                <a:solidFill>
                  <a:srgbClr val="475569"/>
                </a:solidFill>
              </a:rPr>
              <a:t>filtered through 6 sequential quality gates.</a:t>
            </a:r>
            <a:endParaRPr lang="en-US" sz="1200" dirty="0"/>
          </a:p>
        </p:txBody>
      </p:sp>
      <p:sp>
        <p:nvSpPr>
          <p:cNvPr id="24" name="Shape 22"/>
          <p:cNvSpPr/>
          <p:nvPr/>
        </p:nvSpPr>
        <p:spPr>
          <a:xfrm>
            <a:off x="5074920" y="2441448"/>
            <a:ext cx="164592" cy="164592"/>
          </a:xfrm>
          <a:prstGeom prst="rect">
            <a:avLst/>
          </a:prstGeom>
          <a:solidFill>
            <a:srgbClr val="D97706"/>
          </a:solidFill>
          <a:ln w="12700">
            <a:solidFill>
              <a:srgbClr val="D97706"/>
            </a:solidFill>
            <a:prstDash val="solid"/>
          </a:ln>
        </p:spPr>
        <p:txBody>
          <a:bodyPr/>
          <a:lstStyle/>
          <a:p>
            <a:endParaRPr lang="en-US"/>
          </a:p>
        </p:txBody>
      </p:sp>
      <p:sp>
        <p:nvSpPr>
          <p:cNvPr id="25" name="Text 23"/>
          <p:cNvSpPr/>
          <p:nvPr/>
        </p:nvSpPr>
        <p:spPr>
          <a:xfrm>
            <a:off x="5349240" y="2331720"/>
            <a:ext cx="3383280" cy="365760"/>
          </a:xfrm>
          <a:prstGeom prst="rect">
            <a:avLst/>
          </a:prstGeom>
          <a:noFill/>
          <a:ln/>
        </p:spPr>
        <p:txBody>
          <a:bodyPr wrap="square" lIns="0" tIns="0" rIns="0" bIns="0" rtlCol="0" anchor="ctr"/>
          <a:lstStyle/>
          <a:p>
            <a:pPr marL="0" indent="0">
              <a:buNone/>
            </a:pPr>
            <a:r>
              <a:rPr lang="en-US" sz="1200" dirty="0">
                <a:solidFill>
                  <a:srgbClr val="1E293B"/>
                </a:solidFill>
              </a:rPr>
              <a:t>Replication filter (≥ 2 independent GWAS studies)</a:t>
            </a:r>
            <a:endParaRPr lang="en-US" sz="1200" dirty="0"/>
          </a:p>
        </p:txBody>
      </p:sp>
      <p:sp>
        <p:nvSpPr>
          <p:cNvPr id="26" name="Shape 24"/>
          <p:cNvSpPr/>
          <p:nvPr/>
        </p:nvSpPr>
        <p:spPr>
          <a:xfrm>
            <a:off x="5074920" y="2871216"/>
            <a:ext cx="164592" cy="164592"/>
          </a:xfrm>
          <a:prstGeom prst="rect">
            <a:avLst/>
          </a:prstGeom>
          <a:solidFill>
            <a:srgbClr val="D97706"/>
          </a:solidFill>
          <a:ln w="12700">
            <a:solidFill>
              <a:srgbClr val="D97706"/>
            </a:solidFill>
            <a:prstDash val="solid"/>
          </a:ln>
        </p:spPr>
        <p:txBody>
          <a:bodyPr/>
          <a:lstStyle/>
          <a:p>
            <a:endParaRPr lang="en-US"/>
          </a:p>
        </p:txBody>
      </p:sp>
      <p:sp>
        <p:nvSpPr>
          <p:cNvPr id="27" name="Text 25"/>
          <p:cNvSpPr/>
          <p:nvPr/>
        </p:nvSpPr>
        <p:spPr>
          <a:xfrm>
            <a:off x="5349240" y="2761488"/>
            <a:ext cx="3383280" cy="365760"/>
          </a:xfrm>
          <a:prstGeom prst="rect">
            <a:avLst/>
          </a:prstGeom>
          <a:noFill/>
          <a:ln/>
        </p:spPr>
        <p:txBody>
          <a:bodyPr wrap="square" lIns="0" tIns="0" rIns="0" bIns="0" rtlCol="0" anchor="ctr"/>
          <a:lstStyle/>
          <a:p>
            <a:pPr marL="0" indent="0">
              <a:buNone/>
            </a:pPr>
            <a:r>
              <a:rPr lang="en-US" sz="1200" dirty="0">
                <a:solidFill>
                  <a:srgbClr val="1E293B"/>
                </a:solidFill>
              </a:rPr>
              <a:t>Max 2 GSP genes per credible set</a:t>
            </a:r>
            <a:endParaRPr lang="en-US" sz="1200" dirty="0"/>
          </a:p>
        </p:txBody>
      </p:sp>
      <p:sp>
        <p:nvSpPr>
          <p:cNvPr id="28" name="Shape 26"/>
          <p:cNvSpPr/>
          <p:nvPr/>
        </p:nvSpPr>
        <p:spPr>
          <a:xfrm>
            <a:off x="5074920" y="3300984"/>
            <a:ext cx="164592" cy="164592"/>
          </a:xfrm>
          <a:prstGeom prst="rect">
            <a:avLst/>
          </a:prstGeom>
          <a:solidFill>
            <a:srgbClr val="D97706"/>
          </a:solidFill>
          <a:ln w="12700">
            <a:solidFill>
              <a:srgbClr val="D97706"/>
            </a:solidFill>
            <a:prstDash val="solid"/>
          </a:ln>
        </p:spPr>
        <p:txBody>
          <a:bodyPr/>
          <a:lstStyle/>
          <a:p>
            <a:endParaRPr lang="en-US"/>
          </a:p>
        </p:txBody>
      </p:sp>
      <p:sp>
        <p:nvSpPr>
          <p:cNvPr id="29" name="Text 27"/>
          <p:cNvSpPr/>
          <p:nvPr/>
        </p:nvSpPr>
        <p:spPr>
          <a:xfrm>
            <a:off x="5349240" y="3191256"/>
            <a:ext cx="3383280" cy="365760"/>
          </a:xfrm>
          <a:prstGeom prst="rect">
            <a:avLst/>
          </a:prstGeom>
          <a:noFill/>
          <a:ln/>
        </p:spPr>
        <p:txBody>
          <a:bodyPr wrap="square" lIns="0" tIns="0" rIns="0" bIns="0" rtlCol="0" anchor="ctr"/>
          <a:lstStyle/>
          <a:p>
            <a:pPr marL="0" indent="0">
              <a:buNone/>
            </a:pPr>
            <a:r>
              <a:rPr lang="en-US" sz="1200" dirty="0">
                <a:solidFill>
                  <a:srgbClr val="1E293B"/>
                </a:solidFill>
              </a:rPr>
              <a:t>STRING PPI filter — remove ambiguous negatives</a:t>
            </a:r>
            <a:endParaRPr lang="en-US" sz="1200" dirty="0"/>
          </a:p>
        </p:txBody>
      </p:sp>
      <p:sp>
        <p:nvSpPr>
          <p:cNvPr id="30" name="Shape 28"/>
          <p:cNvSpPr/>
          <p:nvPr/>
        </p:nvSpPr>
        <p:spPr>
          <a:xfrm>
            <a:off x="5074920" y="3730752"/>
            <a:ext cx="164592" cy="164592"/>
          </a:xfrm>
          <a:prstGeom prst="rect">
            <a:avLst/>
          </a:prstGeom>
          <a:solidFill>
            <a:srgbClr val="D97706"/>
          </a:solidFill>
          <a:ln w="12700">
            <a:solidFill>
              <a:srgbClr val="D97706"/>
            </a:solidFill>
            <a:prstDash val="solid"/>
          </a:ln>
        </p:spPr>
        <p:txBody>
          <a:bodyPr/>
          <a:lstStyle/>
          <a:p>
            <a:endParaRPr lang="en-US"/>
          </a:p>
        </p:txBody>
      </p:sp>
      <p:sp>
        <p:nvSpPr>
          <p:cNvPr id="31" name="Text 29"/>
          <p:cNvSpPr/>
          <p:nvPr/>
        </p:nvSpPr>
        <p:spPr>
          <a:xfrm>
            <a:off x="5349240" y="3621024"/>
            <a:ext cx="3383280" cy="365760"/>
          </a:xfrm>
          <a:prstGeom prst="rect">
            <a:avLst/>
          </a:prstGeom>
          <a:noFill/>
          <a:ln/>
        </p:spPr>
        <p:txBody>
          <a:bodyPr wrap="square" lIns="0" tIns="0" rIns="0" bIns="0" rtlCol="0" anchor="ctr"/>
          <a:lstStyle/>
          <a:p>
            <a:pPr marL="0" indent="0">
              <a:buNone/>
            </a:pPr>
            <a:r>
              <a:rPr lang="en-US" sz="1200" dirty="0">
                <a:solidFill>
                  <a:srgbClr val="1E293B"/>
                </a:solidFill>
              </a:rPr>
              <a:t>Distance filter (distanceSentinelFootprint ≠ 0)</a:t>
            </a:r>
            <a:endParaRPr lang="en-US" sz="1200" dirty="0"/>
          </a:p>
        </p:txBody>
      </p:sp>
      <p:sp>
        <p:nvSpPr>
          <p:cNvPr id="32" name="Shape 30"/>
          <p:cNvSpPr/>
          <p:nvPr/>
        </p:nvSpPr>
        <p:spPr>
          <a:xfrm>
            <a:off x="5074920" y="4160520"/>
            <a:ext cx="164592" cy="164592"/>
          </a:xfrm>
          <a:prstGeom prst="rect">
            <a:avLst/>
          </a:prstGeom>
          <a:solidFill>
            <a:srgbClr val="D97706"/>
          </a:solidFill>
          <a:ln w="12700">
            <a:solidFill>
              <a:srgbClr val="D97706"/>
            </a:solidFill>
            <a:prstDash val="solid"/>
          </a:ln>
        </p:spPr>
        <p:txBody>
          <a:bodyPr/>
          <a:lstStyle/>
          <a:p>
            <a:endParaRPr lang="en-US"/>
          </a:p>
        </p:txBody>
      </p:sp>
      <p:sp>
        <p:nvSpPr>
          <p:cNvPr id="33" name="Text 31"/>
          <p:cNvSpPr/>
          <p:nvPr/>
        </p:nvSpPr>
        <p:spPr>
          <a:xfrm>
            <a:off x="5349240" y="4050792"/>
            <a:ext cx="3383280" cy="365760"/>
          </a:xfrm>
          <a:prstGeom prst="rect">
            <a:avLst/>
          </a:prstGeom>
          <a:noFill/>
          <a:ln/>
        </p:spPr>
        <p:txBody>
          <a:bodyPr wrap="square" lIns="0" tIns="0" rIns="0" bIns="0" rtlCol="0" anchor="ctr"/>
          <a:lstStyle/>
          <a:p>
            <a:pPr marL="0" indent="0">
              <a:buNone/>
            </a:pPr>
            <a:r>
              <a:rPr lang="en-US" sz="1200" dirty="0">
                <a:solidFill>
                  <a:srgbClr val="1E293B"/>
                </a:solidFill>
              </a:rPr>
              <a:t>Protein-coding genes only</a:t>
            </a:r>
            <a:endParaRPr lang="en-US" sz="1200" dirty="0"/>
          </a:p>
        </p:txBody>
      </p:sp>
      <p:sp>
        <p:nvSpPr>
          <p:cNvPr id="34" name="Shape 32"/>
          <p:cNvSpPr/>
          <p:nvPr/>
        </p:nvSpPr>
        <p:spPr>
          <a:xfrm>
            <a:off x="5074920" y="4590288"/>
            <a:ext cx="164592" cy="164592"/>
          </a:xfrm>
          <a:prstGeom prst="rect">
            <a:avLst/>
          </a:prstGeom>
          <a:solidFill>
            <a:srgbClr val="D97706"/>
          </a:solidFill>
          <a:ln w="12700">
            <a:solidFill>
              <a:srgbClr val="D97706"/>
            </a:solidFill>
            <a:prstDash val="solid"/>
          </a:ln>
        </p:spPr>
        <p:txBody>
          <a:bodyPr/>
          <a:lstStyle/>
          <a:p>
            <a:endParaRPr lang="en-US"/>
          </a:p>
        </p:txBody>
      </p:sp>
      <p:sp>
        <p:nvSpPr>
          <p:cNvPr id="35" name="Text 33"/>
          <p:cNvSpPr/>
          <p:nvPr/>
        </p:nvSpPr>
        <p:spPr>
          <a:xfrm>
            <a:off x="5349240" y="4480560"/>
            <a:ext cx="3383280" cy="365760"/>
          </a:xfrm>
          <a:prstGeom prst="rect">
            <a:avLst/>
          </a:prstGeom>
          <a:noFill/>
          <a:ln/>
        </p:spPr>
        <p:txBody>
          <a:bodyPr wrap="square" lIns="0" tIns="0" rIns="0" bIns="0" rtlCol="0" anchor="ctr"/>
          <a:lstStyle/>
          <a:p>
            <a:pPr marL="0" indent="0">
              <a:buNone/>
            </a:pPr>
            <a:r>
              <a:rPr lang="en-US" sz="1200" dirty="0">
                <a:solidFill>
                  <a:srgbClr val="1E293B"/>
                </a:solidFill>
              </a:rPr>
              <a:t>Deduplication patch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2B45"/>
          </a:solidFill>
          <a:ln w="12700">
            <a:solidFill>
              <a:srgbClr val="0D2B45"/>
            </a:solidFill>
            <a:prstDash val="solid"/>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EGL Construction: Source Comparison</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20040" y="777240"/>
          <a:ext cx="8503920" cy="2286000"/>
        </p:xfrm>
        <a:graphic>
          <a:graphicData uri="http://schemas.openxmlformats.org/drawingml/2006/table">
            <a:tbl>
              <a:tblPr/>
              <a:tblGrid>
                <a:gridCol w="32918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57200">
                <a:tc>
                  <a:txBody>
                    <a:bodyPr/>
                    <a:lstStyle/>
                    <a:p>
                      <a:pPr marL="0" indent="0">
                        <a:buNone/>
                      </a:pPr>
                      <a:r>
                        <a:rPr lang="en-US" sz="1300" b="1" dirty="0">
                          <a:solidFill>
                            <a:srgbClr val="FFFFFF"/>
                          </a:solidFill>
                        </a:rPr>
                        <a:t>Evidence Source</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5"/>
                    </a:solidFill>
                  </a:tcPr>
                </a:tc>
                <a:tc>
                  <a:txBody>
                    <a:bodyPr/>
                    <a:lstStyle/>
                    <a:p>
                      <a:pPr marL="0" indent="0" algn="ctr">
                        <a:buNone/>
                      </a:pPr>
                      <a:r>
                        <a:rPr lang="en-US" sz="1300" b="1" dirty="0">
                          <a:solidFill>
                            <a:srgbClr val="FFFFFF"/>
                          </a:solidFill>
                        </a:rPr>
                        <a:t>25.06 pairs</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5"/>
                    </a:solidFill>
                  </a:tcPr>
                </a:tc>
                <a:tc>
                  <a:txBody>
                    <a:bodyPr/>
                    <a:lstStyle/>
                    <a:p>
                      <a:pPr marL="0" indent="0" algn="ctr">
                        <a:buNone/>
                      </a:pPr>
                      <a:r>
                        <a:rPr lang="en-US" sz="1300" b="1" dirty="0">
                          <a:solidFill>
                            <a:srgbClr val="FFFFFF"/>
                          </a:solidFill>
                        </a:rPr>
                        <a:t>26.03 pairs</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5"/>
                    </a:solidFill>
                  </a:tcPr>
                </a:tc>
                <a:tc>
                  <a:txBody>
                    <a:bodyPr/>
                    <a:lstStyle/>
                    <a:p>
                      <a:pPr marL="0" indent="0" algn="ctr">
                        <a:buNone/>
                      </a:pPr>
                      <a:r>
                        <a:rPr lang="en-US" sz="1300" b="1" dirty="0">
                          <a:solidFill>
                            <a:srgbClr val="FFFFFF"/>
                          </a:solidFill>
                        </a:rPr>
                        <a:t>Change</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5"/>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E293B"/>
                          </a:solidFill>
                        </a:rPr>
                        <a:t>OTG Gold Standard</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dirty="0">
                          <a:solidFill>
                            <a:srgbClr val="475569"/>
                          </a:solidFill>
                        </a:rPr>
                        <a:t>812</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dirty="0">
                          <a:solidFill>
                            <a:srgbClr val="475569"/>
                          </a:solidFill>
                        </a:rPr>
                        <a:t>812</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dirty="0">
                          <a:solidFill>
                            <a:srgbClr val="475569"/>
                          </a:solidFill>
                        </a:rPr>
                        <a:t>—</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E293B"/>
                          </a:solidFill>
                        </a:rPr>
                        <a:t>ChEMBL Phase 3+</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dirty="0">
                          <a:solidFill>
                            <a:srgbClr val="475569"/>
                          </a:solidFill>
                        </a:rPr>
                        <a:t>25,685</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dirty="0">
                          <a:solidFill>
                            <a:srgbClr val="475569"/>
                          </a:solidFill>
                        </a:rPr>
                        <a:t>25,782</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b="1" dirty="0">
                          <a:solidFill>
                            <a:srgbClr val="D97706"/>
                          </a:solidFill>
                        </a:rPr>
                        <a:t>+97  ⚠</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E293B"/>
                          </a:solidFill>
                        </a:rPr>
                        <a:t>Rare Variants</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dirty="0">
                          <a:solidFill>
                            <a:srgbClr val="475569"/>
                          </a:solidFill>
                        </a:rPr>
                        <a:t>16,371</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b="1" dirty="0">
                          <a:solidFill>
                            <a:srgbClr val="15803D"/>
                          </a:solidFill>
                        </a:rPr>
                        <a:t>29,049</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300" b="1" dirty="0">
                          <a:solidFill>
                            <a:srgbClr val="15803D"/>
                          </a:solidFill>
                        </a:rPr>
                        <a:t>+77%</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FFFFFF"/>
                          </a:solidFill>
                        </a:rPr>
                        <a:t>Combined EGL (distinct)</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E7490"/>
                    </a:solidFill>
                  </a:tcPr>
                </a:tc>
                <a:tc>
                  <a:txBody>
                    <a:bodyPr/>
                    <a:lstStyle/>
                    <a:p>
                      <a:pPr marL="0" indent="0" algn="ctr">
                        <a:buNone/>
                      </a:pPr>
                      <a:r>
                        <a:rPr lang="en-US" sz="1300" b="1" dirty="0">
                          <a:solidFill>
                            <a:srgbClr val="FFFFFF"/>
                          </a:solidFill>
                        </a:rPr>
                        <a:t>42,288</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E7490"/>
                    </a:solidFill>
                  </a:tcPr>
                </a:tc>
                <a:tc>
                  <a:txBody>
                    <a:bodyPr/>
                    <a:lstStyle/>
                    <a:p>
                      <a:pPr marL="0" indent="0" algn="ctr">
                        <a:buNone/>
                      </a:pPr>
                      <a:r>
                        <a:rPr lang="en-US" sz="1300" b="1" dirty="0">
                          <a:solidFill>
                            <a:srgbClr val="FFFFFF"/>
                          </a:solidFill>
                        </a:rPr>
                        <a:t>55,003</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E7490"/>
                    </a:solidFill>
                  </a:tcPr>
                </a:tc>
                <a:tc>
                  <a:txBody>
                    <a:bodyPr/>
                    <a:lstStyle/>
                    <a:p>
                      <a:pPr marL="0" indent="0" algn="ctr">
                        <a:buNone/>
                      </a:pPr>
                      <a:r>
                        <a:rPr lang="en-US" sz="1300" b="1" dirty="0">
                          <a:solidFill>
                            <a:srgbClr val="FFFFFF"/>
                          </a:solidFill>
                        </a:rPr>
                        <a:t>+30%</a:t>
                      </a:r>
                      <a:endParaRPr lang="en-US" sz="1300" dirty="0"/>
                    </a:p>
                  </a:txBody>
                  <a:tcPr marL="164592" marR="164592" marT="73152" marB="73152">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E7490"/>
                    </a:solidFill>
                  </a:tcPr>
                </a:tc>
                <a:extLst>
                  <a:ext uri="{0D108BD9-81ED-4DB2-BD59-A6C34878D82A}">
                    <a16:rowId xmlns:a16="http://schemas.microsoft.com/office/drawing/2014/main" val="10004"/>
                  </a:ext>
                </a:extLst>
              </a:tr>
            </a:tbl>
          </a:graphicData>
        </a:graphic>
      </p:graphicFrame>
      <p:sp>
        <p:nvSpPr>
          <p:cNvPr id="5" name="Shape 2"/>
          <p:cNvSpPr/>
          <p:nvPr/>
        </p:nvSpPr>
        <p:spPr>
          <a:xfrm>
            <a:off x="320040" y="3337560"/>
            <a:ext cx="3977640" cy="1600200"/>
          </a:xfrm>
          <a:prstGeom prst="rect">
            <a:avLst/>
          </a:prstGeom>
          <a:solidFill>
            <a:srgbClr val="EEF9FF"/>
          </a:solidFill>
          <a:ln w="12700">
            <a:solidFill>
              <a:srgbClr val="BAE6FD"/>
            </a:solidFill>
            <a:prstDash val="solid"/>
          </a:ln>
          <a:effectLst>
            <a:outerShdw blurRad="88900" dist="25400" dir="8100000" algn="bl" rotWithShape="0">
              <a:srgbClr val="000000">
                <a:alpha val="11000"/>
              </a:srgbClr>
            </a:outerShdw>
          </a:effectLst>
        </p:spPr>
        <p:txBody>
          <a:bodyPr/>
          <a:lstStyle/>
          <a:p>
            <a:endParaRPr lang="en-US"/>
          </a:p>
        </p:txBody>
      </p:sp>
      <p:sp>
        <p:nvSpPr>
          <p:cNvPr id="6" name="Shape 3"/>
          <p:cNvSpPr/>
          <p:nvPr/>
        </p:nvSpPr>
        <p:spPr>
          <a:xfrm>
            <a:off x="320040" y="3337560"/>
            <a:ext cx="64008" cy="1600200"/>
          </a:xfrm>
          <a:prstGeom prst="rect">
            <a:avLst/>
          </a:prstGeom>
          <a:solidFill>
            <a:srgbClr val="0E7490"/>
          </a:solidFill>
          <a:ln w="12700">
            <a:solidFill>
              <a:srgbClr val="0E7490"/>
            </a:solidFill>
            <a:prstDash val="solid"/>
          </a:ln>
        </p:spPr>
        <p:txBody>
          <a:bodyPr/>
          <a:lstStyle/>
          <a:p>
            <a:endParaRPr lang="en-US"/>
          </a:p>
        </p:txBody>
      </p:sp>
      <p:sp>
        <p:nvSpPr>
          <p:cNvPr id="7" name="Text 4"/>
          <p:cNvSpPr/>
          <p:nvPr/>
        </p:nvSpPr>
        <p:spPr>
          <a:xfrm>
            <a:off x="475488" y="3383280"/>
            <a:ext cx="3749040" cy="1508760"/>
          </a:xfrm>
          <a:prstGeom prst="rect">
            <a:avLst/>
          </a:prstGeom>
          <a:noFill/>
          <a:ln/>
        </p:spPr>
        <p:txBody>
          <a:bodyPr wrap="square" rtlCol="0" anchor="ctr"/>
          <a:lstStyle/>
          <a:p>
            <a:pPr marL="0" indent="0">
              <a:buNone/>
            </a:pPr>
            <a:r>
              <a:rPr lang="en-US" sz="1300" b="1" dirty="0">
                <a:solidFill>
                  <a:srgbClr val="0E7490"/>
                </a:solidFill>
                <a:latin typeface="Calibri" pitchFamily="34" charset="0"/>
                <a:ea typeface="Calibri" pitchFamily="34" charset="-122"/>
                <a:cs typeface="Calibri" pitchFamily="34" charset="-120"/>
              </a:rPr>
              <a:t>Rare Variant Threshold: 0.95 → 0.75
</a:t>
            </a:r>
            <a:r>
              <a:rPr lang="en-US" sz="1200" dirty="0">
                <a:solidFill>
                  <a:srgbClr val="475569"/>
                </a:solidFill>
                <a:latin typeface="Calibri" pitchFamily="34" charset="0"/>
                <a:ea typeface="Calibri" pitchFamily="34" charset="-122"/>
                <a:cs typeface="Calibri" pitchFamily="34" charset="-120"/>
              </a:rPr>
              <a:t>EVA alone grew 6× (57k → 361k records).</a:t>
            </a:r>
            <a:endParaRPr lang="en-US" sz="1300" dirty="0"/>
          </a:p>
          <a:p>
            <a:pPr marL="0" indent="0">
              <a:buNone/>
            </a:pPr>
            <a:r>
              <a:rPr lang="en-US" sz="1200" dirty="0">
                <a:solidFill>
                  <a:srgbClr val="475569"/>
                </a:solidFill>
                <a:latin typeface="Calibri" pitchFamily="34" charset="0"/>
                <a:ea typeface="Calibri" pitchFamily="34" charset="-122"/>
                <a:cs typeface="Calibri" pitchFamily="34" charset="-120"/>
              </a:rPr>
              <a:t>EVA now dominates the rare variant source.</a:t>
            </a:r>
            <a:endParaRPr lang="en-US" sz="1300" dirty="0"/>
          </a:p>
          <a:p>
            <a:pPr marL="0" indent="0">
              <a:buNone/>
            </a:pPr>
            <a:r>
              <a:rPr lang="en-US" sz="1200" dirty="0">
                <a:solidFill>
                  <a:srgbClr val="475569"/>
                </a:solidFill>
                <a:latin typeface="Calibri" pitchFamily="34" charset="0"/>
                <a:ea typeface="Calibri" pitchFamily="34" charset="-122"/>
                <a:cs typeface="Calibri" pitchFamily="34" charset="-120"/>
              </a:rPr>
              <a:t>This is the primary driver of EGL growth.</a:t>
            </a:r>
            <a:endParaRPr lang="en-US" sz="1300" dirty="0"/>
          </a:p>
        </p:txBody>
      </p:sp>
      <p:sp>
        <p:nvSpPr>
          <p:cNvPr id="8" name="Shape 5"/>
          <p:cNvSpPr/>
          <p:nvPr/>
        </p:nvSpPr>
        <p:spPr>
          <a:xfrm>
            <a:off x="4846320" y="3337560"/>
            <a:ext cx="3977640" cy="1600200"/>
          </a:xfrm>
          <a:prstGeom prst="rect">
            <a:avLst/>
          </a:prstGeom>
          <a:solidFill>
            <a:srgbClr val="FFFBEB"/>
          </a:solidFill>
          <a:ln w="12700">
            <a:solidFill>
              <a:srgbClr val="FCD34D"/>
            </a:solidFill>
            <a:prstDash val="solid"/>
          </a:ln>
          <a:effectLst>
            <a:outerShdw blurRad="88900" dist="25400" dir="8100000" algn="bl" rotWithShape="0">
              <a:srgbClr val="000000">
                <a:alpha val="11000"/>
              </a:srgbClr>
            </a:outerShdw>
          </a:effectLst>
        </p:spPr>
        <p:txBody>
          <a:bodyPr/>
          <a:lstStyle/>
          <a:p>
            <a:endParaRPr lang="en-US"/>
          </a:p>
        </p:txBody>
      </p:sp>
      <p:sp>
        <p:nvSpPr>
          <p:cNvPr id="9" name="Shape 6"/>
          <p:cNvSpPr/>
          <p:nvPr/>
        </p:nvSpPr>
        <p:spPr>
          <a:xfrm>
            <a:off x="4846320" y="3337560"/>
            <a:ext cx="64008" cy="1600200"/>
          </a:xfrm>
          <a:prstGeom prst="rect">
            <a:avLst/>
          </a:prstGeom>
          <a:solidFill>
            <a:srgbClr val="D97706"/>
          </a:solidFill>
          <a:ln w="12700">
            <a:solidFill>
              <a:srgbClr val="D97706"/>
            </a:solidFill>
            <a:prstDash val="solid"/>
          </a:ln>
        </p:spPr>
        <p:txBody>
          <a:bodyPr/>
          <a:lstStyle/>
          <a:p>
            <a:endParaRPr lang="en-US"/>
          </a:p>
        </p:txBody>
      </p:sp>
      <p:sp>
        <p:nvSpPr>
          <p:cNvPr id="10" name="Text 7"/>
          <p:cNvSpPr/>
          <p:nvPr/>
        </p:nvSpPr>
        <p:spPr>
          <a:xfrm>
            <a:off x="5001768" y="3383280"/>
            <a:ext cx="3749040" cy="1508760"/>
          </a:xfrm>
          <a:prstGeom prst="rect">
            <a:avLst/>
          </a:prstGeom>
          <a:noFill/>
          <a:ln/>
        </p:spPr>
        <p:txBody>
          <a:bodyPr wrap="square"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ChEMBL: Unexpectedly Few New EGLs ⚠
</a:t>
            </a:r>
            <a:r>
              <a:rPr lang="en-US" sz="1200" dirty="0">
                <a:solidFill>
                  <a:srgbClr val="475569"/>
                </a:solidFill>
                <a:latin typeface="Calibri" pitchFamily="34" charset="0"/>
                <a:ea typeface="Calibri" pitchFamily="34" charset="-122"/>
                <a:cs typeface="Calibri" pitchFamily="34" charset="-120"/>
              </a:rPr>
              <a:t>Only +97 new pairs despite broader stage</a:t>
            </a:r>
            <a:endParaRPr lang="en-US" sz="1300" dirty="0"/>
          </a:p>
          <a:p>
            <a:pPr marL="0" indent="0">
              <a:buNone/>
            </a:pPr>
            <a:r>
              <a:rPr lang="en-US" sz="1200" dirty="0">
                <a:solidFill>
                  <a:srgbClr val="475569"/>
                </a:solidFill>
                <a:latin typeface="Calibri" pitchFamily="34" charset="0"/>
                <a:ea typeface="Calibri" pitchFamily="34" charset="-122"/>
                <a:cs typeface="Calibri" pitchFamily="34" charset="-120"/>
              </a:rPr>
              <a:t>definition (APPROVAL added). Schema was</a:t>
            </a:r>
            <a:endParaRPr lang="en-US" sz="1300" dirty="0"/>
          </a:p>
          <a:p>
            <a:pPr marL="0" indent="0">
              <a:buNone/>
            </a:pPr>
            <a:r>
              <a:rPr lang="en-US" sz="1200" dirty="0">
                <a:solidFill>
                  <a:srgbClr val="475569"/>
                </a:solidFill>
                <a:latin typeface="Calibri" pitchFamily="34" charset="0"/>
                <a:ea typeface="Calibri" pitchFamily="34" charset="-122"/>
                <a:cs typeface="Calibri" pitchFamily="34" charset="-120"/>
              </a:rPr>
              <a:t>restructured in 26.03 — needs investigation.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2B45"/>
          </a:solidFill>
          <a:ln w="12700">
            <a:solidFill>
              <a:srgbClr val="0D2B45"/>
            </a:solidFill>
            <a:prstDash val="solid"/>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Training Set Filters — Step by Step</a:t>
            </a:r>
            <a:endParaRPr lang="en-US" sz="2200" dirty="0"/>
          </a:p>
        </p:txBody>
      </p:sp>
      <p:sp>
        <p:nvSpPr>
          <p:cNvPr id="4" name="Shape 2"/>
          <p:cNvSpPr/>
          <p:nvPr/>
        </p:nvSpPr>
        <p:spPr>
          <a:xfrm>
            <a:off x="4160520" y="658368"/>
            <a:ext cx="2011680" cy="274320"/>
          </a:xfrm>
          <a:prstGeom prst="rect">
            <a:avLst/>
          </a:prstGeom>
          <a:solidFill>
            <a:srgbClr val="0A3252"/>
          </a:solidFill>
          <a:ln w="12700">
            <a:solidFill>
              <a:srgbClr val="0A3252"/>
            </a:solidFill>
            <a:prstDash val="solid"/>
          </a:ln>
        </p:spPr>
        <p:txBody>
          <a:bodyPr/>
          <a:lstStyle/>
          <a:p>
            <a:endParaRPr lang="en-US"/>
          </a:p>
        </p:txBody>
      </p:sp>
      <p:sp>
        <p:nvSpPr>
          <p:cNvPr id="5" name="Text 3"/>
          <p:cNvSpPr/>
          <p:nvPr/>
        </p:nvSpPr>
        <p:spPr>
          <a:xfrm>
            <a:off x="4160520" y="658368"/>
            <a:ext cx="2011680" cy="274320"/>
          </a:xfrm>
          <a:prstGeom prst="rect">
            <a:avLst/>
          </a:prstGeom>
          <a:noFill/>
          <a:ln/>
        </p:spPr>
        <p:txBody>
          <a:bodyPr wrap="square" lIns="0" tIns="0" rIns="0" bIns="0" rtlCol="0" anchor="ctr"/>
          <a:lstStyle/>
          <a:p>
            <a:pPr marL="0" indent="0" algn="ctr">
              <a:buNone/>
            </a:pPr>
            <a:r>
              <a:rPr lang="en-US" sz="1100" b="1" dirty="0">
                <a:solidFill>
                  <a:srgbClr val="FFFFFF"/>
                </a:solidFill>
              </a:rPr>
              <a:t>25.06</a:t>
            </a:r>
            <a:endParaRPr lang="en-US" sz="1100" dirty="0"/>
          </a:p>
        </p:txBody>
      </p:sp>
      <p:sp>
        <p:nvSpPr>
          <p:cNvPr id="6" name="Shape 4"/>
          <p:cNvSpPr/>
          <p:nvPr/>
        </p:nvSpPr>
        <p:spPr>
          <a:xfrm>
            <a:off x="6217920" y="658368"/>
            <a:ext cx="2651760" cy="274320"/>
          </a:xfrm>
          <a:prstGeom prst="rect">
            <a:avLst/>
          </a:prstGeom>
          <a:solidFill>
            <a:srgbClr val="0E7490"/>
          </a:solidFill>
          <a:ln w="12700">
            <a:solidFill>
              <a:srgbClr val="0E7490"/>
            </a:solidFill>
            <a:prstDash val="solid"/>
          </a:ln>
        </p:spPr>
        <p:txBody>
          <a:bodyPr/>
          <a:lstStyle/>
          <a:p>
            <a:endParaRPr lang="en-US"/>
          </a:p>
        </p:txBody>
      </p:sp>
      <p:sp>
        <p:nvSpPr>
          <p:cNvPr id="7" name="Text 5"/>
          <p:cNvSpPr/>
          <p:nvPr/>
        </p:nvSpPr>
        <p:spPr>
          <a:xfrm>
            <a:off x="6217920" y="658368"/>
            <a:ext cx="2651760" cy="274320"/>
          </a:xfrm>
          <a:prstGeom prst="rect">
            <a:avLst/>
          </a:prstGeom>
          <a:noFill/>
          <a:ln/>
        </p:spPr>
        <p:txBody>
          <a:bodyPr wrap="square" lIns="0" tIns="0" rIns="0" bIns="0" rtlCol="0" anchor="ctr"/>
          <a:lstStyle/>
          <a:p>
            <a:pPr marL="0" indent="0" algn="ctr">
              <a:buNone/>
            </a:pPr>
            <a:r>
              <a:rPr lang="en-US" sz="1100" b="1" dirty="0">
                <a:solidFill>
                  <a:srgbClr val="FFFFFF"/>
                </a:solidFill>
              </a:rPr>
              <a:t>26.03</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32688"/>
          <a:ext cx="8641080" cy="3826764"/>
        </p:xfrm>
        <a:graphic>
          <a:graphicData uri="http://schemas.openxmlformats.org/drawingml/2006/table">
            <a:tbl>
              <a:tblPr/>
              <a:tblGrid>
                <a:gridCol w="28803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425196">
                <a:tc>
                  <a:txBody>
                    <a:bodyPr/>
                    <a:lstStyle/>
                    <a:p>
                      <a:pPr marL="0" indent="0">
                        <a:buNone/>
                      </a:pPr>
                      <a:r>
                        <a:rPr lang="en-US" sz="1100" b="1" dirty="0">
                          <a:solidFill>
                            <a:srgbClr val="FFFFFF"/>
                          </a:solidFill>
                        </a:rPr>
                        <a:t>Filter step</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3252"/>
                    </a:solidFill>
                  </a:tcPr>
                </a:tc>
                <a:tc>
                  <a:txBody>
                    <a:bodyPr/>
                    <a:lstStyle/>
                    <a:p>
                      <a:pPr marL="0" indent="0" algn="ctr">
                        <a:buNone/>
                      </a:pPr>
                      <a:r>
                        <a:rPr lang="en-US" sz="1100" b="1" dirty="0">
                          <a:solidFill>
                            <a:srgbClr val="FFFFFF"/>
                          </a:solidFill>
                        </a:rPr>
                        <a:t>FM rows</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3252"/>
                    </a:solidFill>
                  </a:tcPr>
                </a:tc>
                <a:tc>
                  <a:txBody>
                    <a:bodyPr/>
                    <a:lstStyle/>
                    <a:p>
                      <a:pPr marL="0" indent="0" algn="ctr">
                        <a:buNone/>
                      </a:pPr>
                      <a:r>
                        <a:rPr lang="en-US" sz="1100" b="1" dirty="0">
                          <a:solidFill>
                            <a:srgbClr val="FFFFFF"/>
                          </a:solidFill>
                        </a:rPr>
                        <a:t>GSP+</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3252"/>
                    </a:solidFill>
                  </a:tcPr>
                </a:tc>
                <a:tc>
                  <a:txBody>
                    <a:bodyPr/>
                    <a:lstStyle/>
                    <a:p>
                      <a:pPr marL="0" indent="0" algn="ctr">
                        <a:buNone/>
                      </a:pPr>
                      <a:r>
                        <a:rPr lang="en-US" sz="1100" b="1" dirty="0">
                          <a:solidFill>
                            <a:srgbClr val="FFFFFF"/>
                          </a:solidFill>
                        </a:rPr>
                        <a:t>FM rows</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4F68"/>
                    </a:solidFill>
                  </a:tcPr>
                </a:tc>
                <a:tc>
                  <a:txBody>
                    <a:bodyPr/>
                    <a:lstStyle/>
                    <a:p>
                      <a:pPr marL="0" indent="0" algn="ctr">
                        <a:buNone/>
                      </a:pPr>
                      <a:r>
                        <a:rPr lang="en-US" sz="1100" b="1" dirty="0">
                          <a:solidFill>
                            <a:srgbClr val="FFFFFF"/>
                          </a:solidFill>
                        </a:rPr>
                        <a:t>GSP+</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4F68"/>
                    </a:solidFill>
                  </a:tcPr>
                </a:tc>
                <a:extLst>
                  <a:ext uri="{0D108BD9-81ED-4DB2-BD59-A6C34878D82A}">
                    <a16:rowId xmlns:a16="http://schemas.microsoft.com/office/drawing/2014/main" val="10000"/>
                  </a:ext>
                </a:extLst>
              </a:tr>
              <a:tr h="425196">
                <a:tc>
                  <a:txBody>
                    <a:bodyPr/>
                    <a:lstStyle/>
                    <a:p>
                      <a:pPr marL="0" indent="0">
                        <a:buNone/>
                      </a:pPr>
                      <a:r>
                        <a:rPr lang="en-US" sz="1100" dirty="0">
                          <a:solidFill>
                            <a:srgbClr val="1E293B"/>
                          </a:solidFill>
                        </a:rPr>
                        <a:t>EGL × FM join</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892,206</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21,799</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1,123,880</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27,364</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25196">
                <a:tc>
                  <a:txBody>
                    <a:bodyPr/>
                    <a:lstStyle/>
                    <a:p>
                      <a:pPr marL="0" indent="0">
                        <a:buNone/>
                      </a:pPr>
                      <a:r>
                        <a:rPr lang="en-US" sz="1100" i="1" dirty="0">
                          <a:solidFill>
                            <a:srgbClr val="1E293B"/>
                          </a:solidFill>
                        </a:rPr>
                        <a:t>Qualified studies (25.06 only)</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525,524</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12,520</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CBD5E1"/>
                          </a:solidFill>
                        </a:rPr>
                        <a:t>—</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CBD5E1"/>
                          </a:solidFill>
                        </a:rPr>
                        <a:t>—</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25196">
                <a:tc>
                  <a:txBody>
                    <a:bodyPr/>
                    <a:lstStyle/>
                    <a:p>
                      <a:pPr marL="0" indent="0">
                        <a:buNone/>
                      </a:pPr>
                      <a:r>
                        <a:rPr lang="en-US" sz="1100" b="1" dirty="0">
                          <a:solidFill>
                            <a:srgbClr val="1E293B"/>
                          </a:solidFill>
                        </a:rPr>
                        <a:t>Replication filter  ⚠</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524,141</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12,883</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D97706"/>
                          </a:solidFill>
                        </a:rPr>
                        <a:t>654,512</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D97706"/>
                          </a:solidFill>
                        </a:rPr>
                        <a:t>15,999</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425196">
                <a:tc>
                  <a:txBody>
                    <a:bodyPr/>
                    <a:lstStyle/>
                    <a:p>
                      <a:pPr marL="0" indent="0">
                        <a:buNone/>
                      </a:pPr>
                      <a:r>
                        <a:rPr lang="en-US" sz="1100" dirty="0">
                          <a:solidFill>
                            <a:srgbClr val="1E293B"/>
                          </a:solidFill>
                        </a:rPr>
                        <a:t>Max 2 GSP per credible set</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517,925</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12,414</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645,718</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15,354</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425196">
                <a:tc>
                  <a:txBody>
                    <a:bodyPr/>
                    <a:lstStyle/>
                    <a:p>
                      <a:pPr marL="0" indent="0">
                        <a:buNone/>
                      </a:pPr>
                      <a:r>
                        <a:rPr lang="en-US" sz="1100" dirty="0">
                          <a:solidFill>
                            <a:srgbClr val="1E293B"/>
                          </a:solidFill>
                        </a:rPr>
                        <a:t>STRING PPI (0.80 / 0.75)</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513,018</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12,414</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638,307</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15,354</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425196">
                <a:tc>
                  <a:txBody>
                    <a:bodyPr/>
                    <a:lstStyle/>
                    <a:p>
                      <a:pPr marL="0" indent="0">
                        <a:buNone/>
                      </a:pPr>
                      <a:r>
                        <a:rPr lang="en-US" sz="1100" dirty="0">
                          <a:solidFill>
                            <a:srgbClr val="1E293B"/>
                          </a:solidFill>
                        </a:rPr>
                        <a:t>Distance filter (footprint ≠ 0)</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512,796</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12,192</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637,854</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14,901</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425196">
                <a:tc>
                  <a:txBody>
                    <a:bodyPr/>
                    <a:lstStyle/>
                    <a:p>
                      <a:pPr marL="0" indent="0">
                        <a:buNone/>
                      </a:pPr>
                      <a:r>
                        <a:rPr lang="en-US" sz="1100" dirty="0">
                          <a:solidFill>
                            <a:srgbClr val="1E293B"/>
                          </a:solidFill>
                        </a:rPr>
                        <a:t>Protein-coding + deduplication</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184,791</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CBD5E1"/>
                          </a:solidFill>
                        </a:rPr>
                        <a:t>—</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475569"/>
                          </a:solidFill>
                        </a:rPr>
                        <a:t>227,259</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CBD5E1"/>
                          </a:solidFill>
                        </a:rPr>
                        <a:t>—</a:t>
                      </a:r>
                      <a:endParaRPr lang="en-US" sz="11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425196">
                <a:tc>
                  <a:txBody>
                    <a:bodyPr/>
                    <a:lstStyle/>
                    <a:p>
                      <a:pPr marL="0" indent="0">
                        <a:buNone/>
                      </a:pPr>
                      <a:r>
                        <a:rPr lang="en-US" sz="1200" b="1" dirty="0">
                          <a:solidFill>
                            <a:srgbClr val="FFFFFF"/>
                          </a:solidFill>
                        </a:rPr>
                        <a:t>FINAL TRAINING SET</a:t>
                      </a:r>
                      <a:endParaRPr lang="en-US" sz="12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82D40"/>
                    </a:solidFill>
                  </a:tcPr>
                </a:tc>
                <a:tc>
                  <a:txBody>
                    <a:bodyPr/>
                    <a:lstStyle/>
                    <a:p>
                      <a:pPr marL="0" indent="0" algn="ctr">
                        <a:buNone/>
                      </a:pPr>
                      <a:r>
                        <a:rPr lang="en-US" sz="1200" b="1" dirty="0">
                          <a:solidFill>
                            <a:srgbClr val="FFFFFF"/>
                          </a:solidFill>
                        </a:rPr>
                        <a:t>132,970</a:t>
                      </a:r>
                      <a:endParaRPr lang="en-US" sz="12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82D40"/>
                    </a:solidFill>
                  </a:tcPr>
                </a:tc>
                <a:tc>
                  <a:txBody>
                    <a:bodyPr/>
                    <a:lstStyle/>
                    <a:p>
                      <a:pPr marL="0" indent="0" algn="ctr">
                        <a:buNone/>
                      </a:pPr>
                      <a:r>
                        <a:rPr lang="en-US" sz="1200" b="1" dirty="0">
                          <a:solidFill>
                            <a:srgbClr val="FFFFFF"/>
                          </a:solidFill>
                        </a:rPr>
                        <a:t>8,520</a:t>
                      </a:r>
                      <a:endParaRPr lang="en-US" sz="12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82D40"/>
                    </a:solidFill>
                  </a:tcPr>
                </a:tc>
                <a:tc>
                  <a:txBody>
                    <a:bodyPr/>
                    <a:lstStyle/>
                    <a:p>
                      <a:pPr marL="0" indent="0" algn="ctr">
                        <a:buNone/>
                      </a:pPr>
                      <a:r>
                        <a:rPr lang="en-US" sz="1200" b="1" dirty="0">
                          <a:solidFill>
                            <a:srgbClr val="FFFFFF"/>
                          </a:solidFill>
                        </a:rPr>
                        <a:t>200,536</a:t>
                      </a:r>
                      <a:endParaRPr lang="en-US" sz="12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E7490"/>
                    </a:solidFill>
                  </a:tcPr>
                </a:tc>
                <a:tc>
                  <a:txBody>
                    <a:bodyPr/>
                    <a:lstStyle/>
                    <a:p>
                      <a:pPr marL="0" indent="0" algn="ctr">
                        <a:buNone/>
                      </a:pPr>
                      <a:r>
                        <a:rPr lang="en-US" sz="1200" b="1" dirty="0">
                          <a:solidFill>
                            <a:srgbClr val="FFFFFF"/>
                          </a:solidFill>
                        </a:rPr>
                        <a:t>13,060</a:t>
                      </a:r>
                      <a:endParaRPr lang="en-US" sz="1200" dirty="0"/>
                    </a:p>
                  </a:txBody>
                  <a:tcPr marL="128016" marR="128016"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E7490"/>
                    </a:solidFill>
                  </a:tcPr>
                </a:tc>
                <a:extLst>
                  <a:ext uri="{0D108BD9-81ED-4DB2-BD59-A6C34878D82A}">
                    <a16:rowId xmlns:a16="http://schemas.microsoft.com/office/drawing/2014/main" val="10008"/>
                  </a:ext>
                </a:extLst>
              </a:tr>
            </a:tbl>
          </a:graphicData>
        </a:graphic>
      </p:graphicFrame>
      <p:sp>
        <p:nvSpPr>
          <p:cNvPr id="9" name="Text 6"/>
          <p:cNvSpPr/>
          <p:nvPr/>
        </p:nvSpPr>
        <p:spPr>
          <a:xfrm>
            <a:off x="274320" y="4846320"/>
            <a:ext cx="8595360" cy="228600"/>
          </a:xfrm>
          <a:prstGeom prst="rect">
            <a:avLst/>
          </a:prstGeom>
          <a:noFill/>
          <a:ln/>
        </p:spPr>
        <p:txBody>
          <a:bodyPr wrap="square" lIns="0" tIns="0" rIns="0" bIns="0" rtlCol="0" anchor="ctr"/>
          <a:lstStyle/>
          <a:p>
            <a:pPr marL="0" indent="0">
              <a:buNone/>
            </a:pPr>
            <a:r>
              <a:rPr lang="en-US" sz="1000" i="1" dirty="0">
                <a:solidFill>
                  <a:srgbClr val="D97706"/>
                </a:solidFill>
              </a:rPr>
              <a:t>⚠  Replication: 26.03 passes 654k credible sets vs 264k in 25.06 (2.5× more lenient). Replication criteria needs tightening in the next release.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2B45"/>
          </a:solidFill>
          <a:ln w="12700">
            <a:solidFill>
              <a:srgbClr val="0D2B45"/>
            </a:solidFill>
            <a:prstDash val="solid"/>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Final Training Set &amp; Key Takeaways</a:t>
            </a:r>
            <a:endParaRPr lang="en-US" sz="2200" dirty="0"/>
          </a:p>
        </p:txBody>
      </p:sp>
      <p:sp>
        <p:nvSpPr>
          <p:cNvPr id="4" name="Shape 2"/>
          <p:cNvSpPr/>
          <p:nvPr/>
        </p:nvSpPr>
        <p:spPr>
          <a:xfrm>
            <a:off x="274320" y="777240"/>
            <a:ext cx="2103120" cy="187452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5" name="Shape 3"/>
          <p:cNvSpPr/>
          <p:nvPr/>
        </p:nvSpPr>
        <p:spPr>
          <a:xfrm>
            <a:off x="274320" y="777240"/>
            <a:ext cx="2103120" cy="54864"/>
          </a:xfrm>
          <a:prstGeom prst="rect">
            <a:avLst/>
          </a:prstGeom>
          <a:solidFill>
            <a:srgbClr val="0E7490"/>
          </a:solidFill>
          <a:ln w="12700">
            <a:solidFill>
              <a:srgbClr val="0E7490"/>
            </a:solidFill>
            <a:prstDash val="solid"/>
          </a:ln>
        </p:spPr>
        <p:txBody>
          <a:bodyPr/>
          <a:lstStyle/>
          <a:p>
            <a:endParaRPr lang="en-US"/>
          </a:p>
        </p:txBody>
      </p:sp>
      <p:sp>
        <p:nvSpPr>
          <p:cNvPr id="6" name="Text 4"/>
          <p:cNvSpPr/>
          <p:nvPr/>
        </p:nvSpPr>
        <p:spPr>
          <a:xfrm>
            <a:off x="274320" y="886968"/>
            <a:ext cx="2103120" cy="640080"/>
          </a:xfrm>
          <a:prstGeom prst="rect">
            <a:avLst/>
          </a:prstGeom>
          <a:noFill/>
          <a:ln/>
        </p:spPr>
        <p:txBody>
          <a:bodyPr wrap="square" lIns="0" tIns="0" rIns="0" bIns="0" rtlCol="0" anchor="ctr"/>
          <a:lstStyle/>
          <a:p>
            <a:pPr marL="0" indent="0" algn="ctr">
              <a:buNone/>
            </a:pPr>
            <a:r>
              <a:rPr lang="en-US" sz="3200" b="1" dirty="0">
                <a:solidFill>
                  <a:srgbClr val="0E7490"/>
                </a:solidFill>
              </a:rPr>
              <a:t>+51%</a:t>
            </a:r>
            <a:endParaRPr lang="en-US" sz="3200" dirty="0"/>
          </a:p>
        </p:txBody>
      </p:sp>
      <p:sp>
        <p:nvSpPr>
          <p:cNvPr id="7" name="Text 5"/>
          <p:cNvSpPr/>
          <p:nvPr/>
        </p:nvSpPr>
        <p:spPr>
          <a:xfrm>
            <a:off x="274320" y="1527048"/>
            <a:ext cx="2103120" cy="411480"/>
          </a:xfrm>
          <a:prstGeom prst="rect">
            <a:avLst/>
          </a:prstGeom>
          <a:noFill/>
          <a:ln/>
        </p:spPr>
        <p:txBody>
          <a:bodyPr wrap="square" lIns="0" tIns="0" rIns="0" bIns="0" rtlCol="0" anchor="ctr"/>
          <a:lstStyle/>
          <a:p>
            <a:pPr marL="0" indent="0" algn="ctr">
              <a:buNone/>
            </a:pPr>
            <a:r>
              <a:rPr lang="en-US" sz="1700" b="1" dirty="0">
                <a:solidFill>
                  <a:srgbClr val="1E293B"/>
                </a:solidFill>
              </a:rPr>
              <a:t>200,536</a:t>
            </a:r>
            <a:endParaRPr lang="en-US" sz="1700" dirty="0"/>
          </a:p>
        </p:txBody>
      </p:sp>
      <p:sp>
        <p:nvSpPr>
          <p:cNvPr id="8" name="Text 6"/>
          <p:cNvSpPr/>
          <p:nvPr/>
        </p:nvSpPr>
        <p:spPr>
          <a:xfrm>
            <a:off x="274320" y="1938528"/>
            <a:ext cx="2103120" cy="274320"/>
          </a:xfrm>
          <a:prstGeom prst="rect">
            <a:avLst/>
          </a:prstGeom>
          <a:noFill/>
          <a:ln/>
        </p:spPr>
        <p:txBody>
          <a:bodyPr wrap="square" lIns="0" tIns="0" rIns="0" bIns="0" rtlCol="0" anchor="ctr"/>
          <a:lstStyle/>
          <a:p>
            <a:pPr marL="0" indent="0" algn="ctr">
              <a:buNone/>
            </a:pPr>
            <a:r>
              <a:rPr lang="en-US" sz="1100" dirty="0">
                <a:solidFill>
                  <a:srgbClr val="475569"/>
                </a:solidFill>
              </a:rPr>
              <a:t>was 132,970</a:t>
            </a:r>
            <a:endParaRPr lang="en-US" sz="1100" dirty="0"/>
          </a:p>
        </p:txBody>
      </p:sp>
      <p:sp>
        <p:nvSpPr>
          <p:cNvPr id="9" name="Text 7"/>
          <p:cNvSpPr/>
          <p:nvPr/>
        </p:nvSpPr>
        <p:spPr>
          <a:xfrm>
            <a:off x="274320" y="2212848"/>
            <a:ext cx="2103120" cy="347472"/>
          </a:xfrm>
          <a:prstGeom prst="rect">
            <a:avLst/>
          </a:prstGeom>
          <a:noFill/>
          <a:ln/>
        </p:spPr>
        <p:txBody>
          <a:bodyPr wrap="square" lIns="0" tIns="0" rIns="0" bIns="0" rtlCol="0" anchor="ctr"/>
          <a:lstStyle/>
          <a:p>
            <a:pPr marL="0" indent="0" algn="ctr">
              <a:buNone/>
            </a:pPr>
            <a:r>
              <a:rPr lang="en-US" sz="1100" dirty="0">
                <a:solidFill>
                  <a:srgbClr val="94A3B8"/>
                </a:solidFill>
              </a:rPr>
              <a:t>Total rows</a:t>
            </a:r>
            <a:endParaRPr lang="en-US" sz="1100" dirty="0"/>
          </a:p>
        </p:txBody>
      </p:sp>
      <p:sp>
        <p:nvSpPr>
          <p:cNvPr id="10" name="Shape 8"/>
          <p:cNvSpPr/>
          <p:nvPr/>
        </p:nvSpPr>
        <p:spPr>
          <a:xfrm>
            <a:off x="2560320" y="777240"/>
            <a:ext cx="2103120" cy="187452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11" name="Shape 9"/>
          <p:cNvSpPr/>
          <p:nvPr/>
        </p:nvSpPr>
        <p:spPr>
          <a:xfrm>
            <a:off x="2560320" y="777240"/>
            <a:ext cx="2103120" cy="54864"/>
          </a:xfrm>
          <a:prstGeom prst="rect">
            <a:avLst/>
          </a:prstGeom>
          <a:solidFill>
            <a:srgbClr val="0E7490"/>
          </a:solidFill>
          <a:ln w="12700">
            <a:solidFill>
              <a:srgbClr val="0E7490"/>
            </a:solidFill>
            <a:prstDash val="solid"/>
          </a:ln>
        </p:spPr>
        <p:txBody>
          <a:bodyPr/>
          <a:lstStyle/>
          <a:p>
            <a:endParaRPr lang="en-US"/>
          </a:p>
        </p:txBody>
      </p:sp>
      <p:sp>
        <p:nvSpPr>
          <p:cNvPr id="12" name="Text 10"/>
          <p:cNvSpPr/>
          <p:nvPr/>
        </p:nvSpPr>
        <p:spPr>
          <a:xfrm>
            <a:off x="2560320" y="886968"/>
            <a:ext cx="2103120" cy="640080"/>
          </a:xfrm>
          <a:prstGeom prst="rect">
            <a:avLst/>
          </a:prstGeom>
          <a:noFill/>
          <a:ln/>
        </p:spPr>
        <p:txBody>
          <a:bodyPr wrap="square" lIns="0" tIns="0" rIns="0" bIns="0" rtlCol="0" anchor="ctr"/>
          <a:lstStyle/>
          <a:p>
            <a:pPr marL="0" indent="0" algn="ctr">
              <a:buNone/>
            </a:pPr>
            <a:r>
              <a:rPr lang="en-US" sz="3200" b="1" dirty="0">
                <a:solidFill>
                  <a:srgbClr val="0E7490"/>
                </a:solidFill>
              </a:rPr>
              <a:t>+53%</a:t>
            </a:r>
            <a:endParaRPr lang="en-US" sz="3200" dirty="0"/>
          </a:p>
        </p:txBody>
      </p:sp>
      <p:sp>
        <p:nvSpPr>
          <p:cNvPr id="13" name="Text 11"/>
          <p:cNvSpPr/>
          <p:nvPr/>
        </p:nvSpPr>
        <p:spPr>
          <a:xfrm>
            <a:off x="2560320" y="1527048"/>
            <a:ext cx="2103120" cy="411480"/>
          </a:xfrm>
          <a:prstGeom prst="rect">
            <a:avLst/>
          </a:prstGeom>
          <a:noFill/>
          <a:ln/>
        </p:spPr>
        <p:txBody>
          <a:bodyPr wrap="square" lIns="0" tIns="0" rIns="0" bIns="0" rtlCol="0" anchor="ctr"/>
          <a:lstStyle/>
          <a:p>
            <a:pPr marL="0" indent="0" algn="ctr">
              <a:buNone/>
            </a:pPr>
            <a:r>
              <a:rPr lang="en-US" sz="1700" b="1" dirty="0">
                <a:solidFill>
                  <a:srgbClr val="1E293B"/>
                </a:solidFill>
              </a:rPr>
              <a:t>13,060</a:t>
            </a:r>
            <a:endParaRPr lang="en-US" sz="1700" dirty="0"/>
          </a:p>
        </p:txBody>
      </p:sp>
      <p:sp>
        <p:nvSpPr>
          <p:cNvPr id="14" name="Text 12"/>
          <p:cNvSpPr/>
          <p:nvPr/>
        </p:nvSpPr>
        <p:spPr>
          <a:xfrm>
            <a:off x="2560320" y="1938528"/>
            <a:ext cx="2103120" cy="274320"/>
          </a:xfrm>
          <a:prstGeom prst="rect">
            <a:avLst/>
          </a:prstGeom>
          <a:noFill/>
          <a:ln/>
        </p:spPr>
        <p:txBody>
          <a:bodyPr wrap="square" lIns="0" tIns="0" rIns="0" bIns="0" rtlCol="0" anchor="ctr"/>
          <a:lstStyle/>
          <a:p>
            <a:pPr marL="0" indent="0" algn="ctr">
              <a:buNone/>
            </a:pPr>
            <a:r>
              <a:rPr lang="en-US" sz="1100" dirty="0">
                <a:solidFill>
                  <a:srgbClr val="475569"/>
                </a:solidFill>
              </a:rPr>
              <a:t>was 8,520</a:t>
            </a:r>
            <a:endParaRPr lang="en-US" sz="1100" dirty="0"/>
          </a:p>
        </p:txBody>
      </p:sp>
      <p:sp>
        <p:nvSpPr>
          <p:cNvPr id="15" name="Text 13"/>
          <p:cNvSpPr/>
          <p:nvPr/>
        </p:nvSpPr>
        <p:spPr>
          <a:xfrm>
            <a:off x="2560320" y="2212848"/>
            <a:ext cx="2103120" cy="347472"/>
          </a:xfrm>
          <a:prstGeom prst="rect">
            <a:avLst/>
          </a:prstGeom>
          <a:noFill/>
          <a:ln/>
        </p:spPr>
        <p:txBody>
          <a:bodyPr wrap="square" lIns="0" tIns="0" rIns="0" bIns="0" rtlCol="0" anchor="ctr"/>
          <a:lstStyle/>
          <a:p>
            <a:pPr marL="0" indent="0" algn="ctr">
              <a:buNone/>
            </a:pPr>
            <a:r>
              <a:rPr lang="en-US" sz="1100" dirty="0">
                <a:solidFill>
                  <a:srgbClr val="94A3B8"/>
                </a:solidFill>
              </a:rPr>
              <a:t>Positives</a:t>
            </a:r>
            <a:endParaRPr lang="en-US" sz="1100" dirty="0"/>
          </a:p>
        </p:txBody>
      </p:sp>
      <p:sp>
        <p:nvSpPr>
          <p:cNvPr id="16" name="Shape 14"/>
          <p:cNvSpPr/>
          <p:nvPr/>
        </p:nvSpPr>
        <p:spPr>
          <a:xfrm>
            <a:off x="274320" y="2834640"/>
            <a:ext cx="2103120" cy="187452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17" name="Shape 15"/>
          <p:cNvSpPr/>
          <p:nvPr/>
        </p:nvSpPr>
        <p:spPr>
          <a:xfrm>
            <a:off x="274320" y="2834640"/>
            <a:ext cx="2103120" cy="54864"/>
          </a:xfrm>
          <a:prstGeom prst="rect">
            <a:avLst/>
          </a:prstGeom>
          <a:solidFill>
            <a:srgbClr val="0A5E73"/>
          </a:solidFill>
          <a:ln w="12700">
            <a:solidFill>
              <a:srgbClr val="0A5E73"/>
            </a:solidFill>
            <a:prstDash val="solid"/>
          </a:ln>
        </p:spPr>
        <p:txBody>
          <a:bodyPr/>
          <a:lstStyle/>
          <a:p>
            <a:endParaRPr lang="en-US"/>
          </a:p>
        </p:txBody>
      </p:sp>
      <p:sp>
        <p:nvSpPr>
          <p:cNvPr id="18" name="Text 16"/>
          <p:cNvSpPr/>
          <p:nvPr/>
        </p:nvSpPr>
        <p:spPr>
          <a:xfrm>
            <a:off x="274320" y="2944368"/>
            <a:ext cx="2103120" cy="640080"/>
          </a:xfrm>
          <a:prstGeom prst="rect">
            <a:avLst/>
          </a:prstGeom>
          <a:noFill/>
          <a:ln/>
        </p:spPr>
        <p:txBody>
          <a:bodyPr wrap="square" lIns="0" tIns="0" rIns="0" bIns="0" rtlCol="0" anchor="ctr"/>
          <a:lstStyle/>
          <a:p>
            <a:pPr marL="0" indent="0" algn="ctr">
              <a:buNone/>
            </a:pPr>
            <a:r>
              <a:rPr lang="en-US" sz="3200" b="1" dirty="0">
                <a:solidFill>
                  <a:srgbClr val="0A5E73"/>
                </a:solidFill>
              </a:rPr>
              <a:t>+29%</a:t>
            </a:r>
            <a:endParaRPr lang="en-US" sz="3200" dirty="0"/>
          </a:p>
        </p:txBody>
      </p:sp>
      <p:sp>
        <p:nvSpPr>
          <p:cNvPr id="19" name="Text 17"/>
          <p:cNvSpPr/>
          <p:nvPr/>
        </p:nvSpPr>
        <p:spPr>
          <a:xfrm>
            <a:off x="274320" y="3584448"/>
            <a:ext cx="2103120" cy="411480"/>
          </a:xfrm>
          <a:prstGeom prst="rect">
            <a:avLst/>
          </a:prstGeom>
          <a:noFill/>
          <a:ln/>
        </p:spPr>
        <p:txBody>
          <a:bodyPr wrap="square" lIns="0" tIns="0" rIns="0" bIns="0" rtlCol="0" anchor="ctr"/>
          <a:lstStyle/>
          <a:p>
            <a:pPr marL="0" indent="0" algn="ctr">
              <a:buNone/>
            </a:pPr>
            <a:r>
              <a:rPr lang="en-US" sz="1700" b="1" dirty="0">
                <a:solidFill>
                  <a:srgbClr val="1E293B"/>
                </a:solidFill>
              </a:rPr>
              <a:t>505</a:t>
            </a:r>
            <a:endParaRPr lang="en-US" sz="1700" dirty="0"/>
          </a:p>
        </p:txBody>
      </p:sp>
      <p:sp>
        <p:nvSpPr>
          <p:cNvPr id="20" name="Text 18"/>
          <p:cNvSpPr/>
          <p:nvPr/>
        </p:nvSpPr>
        <p:spPr>
          <a:xfrm>
            <a:off x="274320" y="3995928"/>
            <a:ext cx="2103120" cy="274320"/>
          </a:xfrm>
          <a:prstGeom prst="rect">
            <a:avLst/>
          </a:prstGeom>
          <a:noFill/>
          <a:ln/>
        </p:spPr>
        <p:txBody>
          <a:bodyPr wrap="square" lIns="0" tIns="0" rIns="0" bIns="0" rtlCol="0" anchor="ctr"/>
          <a:lstStyle/>
          <a:p>
            <a:pPr marL="0" indent="0" algn="ctr">
              <a:buNone/>
            </a:pPr>
            <a:r>
              <a:rPr lang="en-US" sz="1100" dirty="0">
                <a:solidFill>
                  <a:srgbClr val="475569"/>
                </a:solidFill>
              </a:rPr>
              <a:t>was 390</a:t>
            </a:r>
            <a:endParaRPr lang="en-US" sz="1100" dirty="0"/>
          </a:p>
        </p:txBody>
      </p:sp>
      <p:sp>
        <p:nvSpPr>
          <p:cNvPr id="21" name="Text 19"/>
          <p:cNvSpPr/>
          <p:nvPr/>
        </p:nvSpPr>
        <p:spPr>
          <a:xfrm>
            <a:off x="274320" y="4270248"/>
            <a:ext cx="2103120" cy="347472"/>
          </a:xfrm>
          <a:prstGeom prst="rect">
            <a:avLst/>
          </a:prstGeom>
          <a:noFill/>
          <a:ln/>
        </p:spPr>
        <p:txBody>
          <a:bodyPr wrap="square" lIns="0" tIns="0" rIns="0" bIns="0" rtlCol="0" anchor="ctr"/>
          <a:lstStyle/>
          <a:p>
            <a:pPr marL="0" indent="0" algn="ctr">
              <a:buNone/>
            </a:pPr>
            <a:r>
              <a:rPr lang="en-US" sz="1100" dirty="0">
                <a:solidFill>
                  <a:srgbClr val="94A3B8"/>
                </a:solidFill>
              </a:rPr>
              <a:t>Unique genes</a:t>
            </a:r>
            <a:endParaRPr lang="en-US" sz="1100" dirty="0"/>
          </a:p>
        </p:txBody>
      </p:sp>
      <p:sp>
        <p:nvSpPr>
          <p:cNvPr id="22" name="Shape 20"/>
          <p:cNvSpPr/>
          <p:nvPr/>
        </p:nvSpPr>
        <p:spPr>
          <a:xfrm>
            <a:off x="2560320" y="2834640"/>
            <a:ext cx="2103120" cy="187452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23" name="Shape 21"/>
          <p:cNvSpPr/>
          <p:nvPr/>
        </p:nvSpPr>
        <p:spPr>
          <a:xfrm>
            <a:off x="2560320" y="2834640"/>
            <a:ext cx="2103120" cy="54864"/>
          </a:xfrm>
          <a:prstGeom prst="rect">
            <a:avLst/>
          </a:prstGeom>
          <a:solidFill>
            <a:srgbClr val="0A5E73"/>
          </a:solidFill>
          <a:ln w="12700">
            <a:solidFill>
              <a:srgbClr val="0A5E73"/>
            </a:solidFill>
            <a:prstDash val="solid"/>
          </a:ln>
        </p:spPr>
        <p:txBody>
          <a:bodyPr/>
          <a:lstStyle/>
          <a:p>
            <a:endParaRPr lang="en-US"/>
          </a:p>
        </p:txBody>
      </p:sp>
      <p:sp>
        <p:nvSpPr>
          <p:cNvPr id="24" name="Text 22"/>
          <p:cNvSpPr/>
          <p:nvPr/>
        </p:nvSpPr>
        <p:spPr>
          <a:xfrm>
            <a:off x="2560320" y="2944368"/>
            <a:ext cx="2103120" cy="640080"/>
          </a:xfrm>
          <a:prstGeom prst="rect">
            <a:avLst/>
          </a:prstGeom>
          <a:noFill/>
          <a:ln/>
        </p:spPr>
        <p:txBody>
          <a:bodyPr wrap="square" lIns="0" tIns="0" rIns="0" bIns="0" rtlCol="0" anchor="ctr"/>
          <a:lstStyle/>
          <a:p>
            <a:pPr marL="0" indent="0" algn="ctr">
              <a:buNone/>
            </a:pPr>
            <a:r>
              <a:rPr lang="en-US" sz="3200" b="1" dirty="0">
                <a:solidFill>
                  <a:srgbClr val="0A5E73"/>
                </a:solidFill>
              </a:rPr>
              <a:t>+24%</a:t>
            </a:r>
            <a:endParaRPr lang="en-US" sz="3200" dirty="0"/>
          </a:p>
        </p:txBody>
      </p:sp>
      <p:sp>
        <p:nvSpPr>
          <p:cNvPr id="25" name="Text 23"/>
          <p:cNvSpPr/>
          <p:nvPr/>
        </p:nvSpPr>
        <p:spPr>
          <a:xfrm>
            <a:off x="2560320" y="3584448"/>
            <a:ext cx="2103120" cy="411480"/>
          </a:xfrm>
          <a:prstGeom prst="rect">
            <a:avLst/>
          </a:prstGeom>
          <a:noFill/>
          <a:ln/>
        </p:spPr>
        <p:txBody>
          <a:bodyPr wrap="square" lIns="0" tIns="0" rIns="0" bIns="0" rtlCol="0" anchor="ctr"/>
          <a:lstStyle/>
          <a:p>
            <a:pPr marL="0" indent="0" algn="ctr">
              <a:buNone/>
            </a:pPr>
            <a:r>
              <a:rPr lang="en-US" sz="1700" b="1" dirty="0">
                <a:solidFill>
                  <a:srgbClr val="1E293B"/>
                </a:solidFill>
              </a:rPr>
              <a:t>1,711</a:t>
            </a:r>
            <a:endParaRPr lang="en-US" sz="1700" dirty="0"/>
          </a:p>
        </p:txBody>
      </p:sp>
      <p:sp>
        <p:nvSpPr>
          <p:cNvPr id="26" name="Text 24"/>
          <p:cNvSpPr/>
          <p:nvPr/>
        </p:nvSpPr>
        <p:spPr>
          <a:xfrm>
            <a:off x="2560320" y="3995928"/>
            <a:ext cx="2103120" cy="274320"/>
          </a:xfrm>
          <a:prstGeom prst="rect">
            <a:avLst/>
          </a:prstGeom>
          <a:noFill/>
          <a:ln/>
        </p:spPr>
        <p:txBody>
          <a:bodyPr wrap="square" lIns="0" tIns="0" rIns="0" bIns="0" rtlCol="0" anchor="ctr"/>
          <a:lstStyle/>
          <a:p>
            <a:pPr marL="0" indent="0" algn="ctr">
              <a:buNone/>
            </a:pPr>
            <a:r>
              <a:rPr lang="en-US" sz="1100" dirty="0">
                <a:solidFill>
                  <a:srgbClr val="475569"/>
                </a:solidFill>
              </a:rPr>
              <a:t>was 1,377</a:t>
            </a:r>
            <a:endParaRPr lang="en-US" sz="1100" dirty="0"/>
          </a:p>
        </p:txBody>
      </p:sp>
      <p:sp>
        <p:nvSpPr>
          <p:cNvPr id="27" name="Text 25"/>
          <p:cNvSpPr/>
          <p:nvPr/>
        </p:nvSpPr>
        <p:spPr>
          <a:xfrm>
            <a:off x="2560320" y="4270248"/>
            <a:ext cx="2103120" cy="347472"/>
          </a:xfrm>
          <a:prstGeom prst="rect">
            <a:avLst/>
          </a:prstGeom>
          <a:noFill/>
          <a:ln/>
        </p:spPr>
        <p:txBody>
          <a:bodyPr wrap="square" lIns="0" tIns="0" rIns="0" bIns="0" rtlCol="0" anchor="ctr"/>
          <a:lstStyle/>
          <a:p>
            <a:pPr marL="0" indent="0" algn="ctr">
              <a:buNone/>
            </a:pPr>
            <a:r>
              <a:rPr lang="en-US" sz="1100" dirty="0">
                <a:solidFill>
                  <a:srgbClr val="94A3B8"/>
                </a:solidFill>
              </a:rPr>
              <a:t>Gene–disease pairs</a:t>
            </a:r>
            <a:endParaRPr lang="en-US" sz="1100" dirty="0"/>
          </a:p>
        </p:txBody>
      </p:sp>
      <p:sp>
        <p:nvSpPr>
          <p:cNvPr id="28" name="Shape 26"/>
          <p:cNvSpPr/>
          <p:nvPr/>
        </p:nvSpPr>
        <p:spPr>
          <a:xfrm>
            <a:off x="4892040" y="777240"/>
            <a:ext cx="3977640" cy="425196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29" name="Shape 27"/>
          <p:cNvSpPr/>
          <p:nvPr/>
        </p:nvSpPr>
        <p:spPr>
          <a:xfrm>
            <a:off x="4892040" y="777240"/>
            <a:ext cx="3977640" cy="54864"/>
          </a:xfrm>
          <a:prstGeom prst="rect">
            <a:avLst/>
          </a:prstGeom>
          <a:solidFill>
            <a:srgbClr val="0E7490"/>
          </a:solidFill>
          <a:ln w="12700">
            <a:solidFill>
              <a:srgbClr val="0E7490"/>
            </a:solidFill>
            <a:prstDash val="solid"/>
          </a:ln>
        </p:spPr>
        <p:txBody>
          <a:bodyPr/>
          <a:lstStyle/>
          <a:p>
            <a:endParaRPr lang="en-US"/>
          </a:p>
        </p:txBody>
      </p:sp>
      <p:sp>
        <p:nvSpPr>
          <p:cNvPr id="30" name="Text 28"/>
          <p:cNvSpPr/>
          <p:nvPr/>
        </p:nvSpPr>
        <p:spPr>
          <a:xfrm>
            <a:off x="5029200" y="832104"/>
            <a:ext cx="3749040" cy="365760"/>
          </a:xfrm>
          <a:prstGeom prst="rect">
            <a:avLst/>
          </a:prstGeom>
          <a:noFill/>
          <a:ln/>
        </p:spPr>
        <p:txBody>
          <a:bodyPr wrap="square" lIns="0" tIns="0" rIns="0" bIns="0" rtlCol="0" anchor="ctr"/>
          <a:lstStyle/>
          <a:p>
            <a:pPr marL="0" indent="0">
              <a:buNone/>
            </a:pPr>
            <a:r>
              <a:rPr lang="en-US" sz="1500" b="1" dirty="0">
                <a:solidFill>
                  <a:srgbClr val="0E7490"/>
                </a:solidFill>
              </a:rPr>
              <a:t>Key Takeaways</a:t>
            </a:r>
            <a:endParaRPr lang="en-US" sz="1500" dirty="0"/>
          </a:p>
        </p:txBody>
      </p:sp>
      <p:sp>
        <p:nvSpPr>
          <p:cNvPr id="31" name="Shape 29"/>
          <p:cNvSpPr/>
          <p:nvPr/>
        </p:nvSpPr>
        <p:spPr>
          <a:xfrm>
            <a:off x="5029200" y="1298448"/>
            <a:ext cx="292608" cy="292608"/>
          </a:xfrm>
          <a:prstGeom prst="rect">
            <a:avLst/>
          </a:prstGeom>
          <a:solidFill>
            <a:srgbClr val="15803D"/>
          </a:solidFill>
          <a:ln w="12700">
            <a:solidFill>
              <a:srgbClr val="15803D"/>
            </a:solidFill>
            <a:prstDash val="solid"/>
          </a:ln>
        </p:spPr>
        <p:txBody>
          <a:bodyPr/>
          <a:lstStyle/>
          <a:p>
            <a:endParaRPr lang="en-US"/>
          </a:p>
        </p:txBody>
      </p:sp>
      <p:sp>
        <p:nvSpPr>
          <p:cNvPr id="32" name="Text 30"/>
          <p:cNvSpPr/>
          <p:nvPr/>
        </p:nvSpPr>
        <p:spPr>
          <a:xfrm>
            <a:off x="5029200" y="129844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3" name="Text 31"/>
          <p:cNvSpPr/>
          <p:nvPr/>
        </p:nvSpPr>
        <p:spPr>
          <a:xfrm>
            <a:off x="5394960" y="1261872"/>
            <a:ext cx="3337560" cy="457200"/>
          </a:xfrm>
          <a:prstGeom prst="rect">
            <a:avLst/>
          </a:prstGeom>
          <a:noFill/>
          <a:ln/>
        </p:spPr>
        <p:txBody>
          <a:bodyPr wrap="square" lIns="0" tIns="0" rIns="0" bIns="0" rtlCol="0" anchor="ctr"/>
          <a:lstStyle/>
          <a:p>
            <a:pPr marL="0" indent="0">
              <a:buNone/>
            </a:pPr>
            <a:r>
              <a:rPr lang="en-US" sz="1150" dirty="0">
                <a:solidFill>
                  <a:srgbClr val="1E293B"/>
                </a:solidFill>
              </a:rPr>
              <a:t>Rare variant threshold 0.95 → 0.75 is the main driver of EGL growth (+77% pairs, EVA 6× larger)</a:t>
            </a:r>
            <a:endParaRPr lang="en-US" sz="1150" dirty="0"/>
          </a:p>
        </p:txBody>
      </p:sp>
      <p:sp>
        <p:nvSpPr>
          <p:cNvPr id="34" name="Shape 32"/>
          <p:cNvSpPr/>
          <p:nvPr/>
        </p:nvSpPr>
        <p:spPr>
          <a:xfrm>
            <a:off x="5029200" y="1984248"/>
            <a:ext cx="292608" cy="292608"/>
          </a:xfrm>
          <a:prstGeom prst="rect">
            <a:avLst/>
          </a:prstGeom>
          <a:solidFill>
            <a:srgbClr val="D97706"/>
          </a:solidFill>
          <a:ln w="12700">
            <a:solidFill>
              <a:srgbClr val="D97706"/>
            </a:solidFill>
            <a:prstDash val="solid"/>
          </a:ln>
        </p:spPr>
        <p:txBody>
          <a:bodyPr/>
          <a:lstStyle/>
          <a:p>
            <a:endParaRPr lang="en-US"/>
          </a:p>
        </p:txBody>
      </p:sp>
      <p:sp>
        <p:nvSpPr>
          <p:cNvPr id="35" name="Text 33"/>
          <p:cNvSpPr/>
          <p:nvPr/>
        </p:nvSpPr>
        <p:spPr>
          <a:xfrm>
            <a:off x="5029200" y="198424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6" name="Text 34"/>
          <p:cNvSpPr/>
          <p:nvPr/>
        </p:nvSpPr>
        <p:spPr>
          <a:xfrm>
            <a:off x="5394960" y="1947672"/>
            <a:ext cx="3337560" cy="457200"/>
          </a:xfrm>
          <a:prstGeom prst="rect">
            <a:avLst/>
          </a:prstGeom>
          <a:noFill/>
          <a:ln/>
        </p:spPr>
        <p:txBody>
          <a:bodyPr wrap="square" lIns="0" tIns="0" rIns="0" bIns="0" rtlCol="0" anchor="ctr"/>
          <a:lstStyle/>
          <a:p>
            <a:pPr marL="0" indent="0">
              <a:buNone/>
            </a:pPr>
            <a:r>
              <a:rPr lang="en-US" sz="1150" dirty="0">
                <a:solidFill>
                  <a:srgbClr val="1E293B"/>
                </a:solidFill>
              </a:rPr>
              <a:t>ChEMBL yielded only +97 new pairs — schema restructured in 26.03, expected more EGLs. Needs investigation</a:t>
            </a:r>
            <a:endParaRPr lang="en-US" sz="1150" dirty="0"/>
          </a:p>
        </p:txBody>
      </p:sp>
      <p:sp>
        <p:nvSpPr>
          <p:cNvPr id="37" name="Shape 35"/>
          <p:cNvSpPr/>
          <p:nvPr/>
        </p:nvSpPr>
        <p:spPr>
          <a:xfrm>
            <a:off x="5029200" y="2670048"/>
            <a:ext cx="292608" cy="292608"/>
          </a:xfrm>
          <a:prstGeom prst="rect">
            <a:avLst/>
          </a:prstGeom>
          <a:solidFill>
            <a:srgbClr val="0E7490"/>
          </a:solidFill>
          <a:ln w="12700">
            <a:solidFill>
              <a:srgbClr val="0E7490"/>
            </a:solidFill>
            <a:prstDash val="solid"/>
          </a:ln>
        </p:spPr>
        <p:txBody>
          <a:bodyPr/>
          <a:lstStyle/>
          <a:p>
            <a:endParaRPr lang="en-US"/>
          </a:p>
        </p:txBody>
      </p:sp>
      <p:sp>
        <p:nvSpPr>
          <p:cNvPr id="38" name="Text 36"/>
          <p:cNvSpPr/>
          <p:nvPr/>
        </p:nvSpPr>
        <p:spPr>
          <a:xfrm>
            <a:off x="5029200" y="267004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9" name="Text 37"/>
          <p:cNvSpPr/>
          <p:nvPr/>
        </p:nvSpPr>
        <p:spPr>
          <a:xfrm>
            <a:off x="5394960" y="2633472"/>
            <a:ext cx="3337560" cy="457200"/>
          </a:xfrm>
          <a:prstGeom prst="rect">
            <a:avLst/>
          </a:prstGeom>
          <a:noFill/>
          <a:ln/>
        </p:spPr>
        <p:txBody>
          <a:bodyPr wrap="square" lIns="0" tIns="0" rIns="0" bIns="0" rtlCol="0" anchor="ctr"/>
          <a:lstStyle/>
          <a:p>
            <a:pPr marL="0" indent="0">
              <a:buNone/>
            </a:pPr>
            <a:r>
              <a:rPr lang="en-US" sz="1150" dirty="0">
                <a:solidFill>
                  <a:srgbClr val="1E293B"/>
                </a:solidFill>
              </a:rPr>
              <a:t>Feature matrix nearly doubled (31M → 58M rows) reflecting the 26.03 OT release expansion</a:t>
            </a:r>
            <a:endParaRPr lang="en-US" sz="1150" dirty="0"/>
          </a:p>
        </p:txBody>
      </p:sp>
      <p:sp>
        <p:nvSpPr>
          <p:cNvPr id="40" name="Shape 38"/>
          <p:cNvSpPr/>
          <p:nvPr/>
        </p:nvSpPr>
        <p:spPr>
          <a:xfrm>
            <a:off x="5029200" y="3355848"/>
            <a:ext cx="292608" cy="292608"/>
          </a:xfrm>
          <a:prstGeom prst="rect">
            <a:avLst/>
          </a:prstGeom>
          <a:solidFill>
            <a:srgbClr val="15803D"/>
          </a:solidFill>
          <a:ln w="12700">
            <a:solidFill>
              <a:srgbClr val="15803D"/>
            </a:solidFill>
            <a:prstDash val="solid"/>
          </a:ln>
        </p:spPr>
        <p:txBody>
          <a:bodyPr/>
          <a:lstStyle/>
          <a:p>
            <a:endParaRPr lang="en-US"/>
          </a:p>
        </p:txBody>
      </p:sp>
      <p:sp>
        <p:nvSpPr>
          <p:cNvPr id="41" name="Text 39"/>
          <p:cNvSpPr/>
          <p:nvPr/>
        </p:nvSpPr>
        <p:spPr>
          <a:xfrm>
            <a:off x="5029200" y="335584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42" name="Text 40"/>
          <p:cNvSpPr/>
          <p:nvPr/>
        </p:nvSpPr>
        <p:spPr>
          <a:xfrm>
            <a:off x="5394960" y="3319272"/>
            <a:ext cx="3337560" cy="457200"/>
          </a:xfrm>
          <a:prstGeom prst="rect">
            <a:avLst/>
          </a:prstGeom>
          <a:noFill/>
          <a:ln/>
        </p:spPr>
        <p:txBody>
          <a:bodyPr wrap="square" lIns="0" tIns="0" rIns="0" bIns="0" rtlCol="0" anchor="ctr"/>
          <a:lstStyle/>
          <a:p>
            <a:pPr marL="0" indent="0">
              <a:buNone/>
            </a:pPr>
            <a:r>
              <a:rPr lang="en-US" sz="1150" dirty="0">
                <a:solidFill>
                  <a:srgbClr val="1E293B"/>
                </a:solidFill>
              </a:rPr>
              <a:t>Deduplication much heavier in 25.06 (−28% vs −12%) — 26.03 EGL is cleaner without literature noise</a:t>
            </a:r>
            <a:endParaRPr lang="en-US" sz="1150" dirty="0"/>
          </a:p>
        </p:txBody>
      </p:sp>
      <p:sp>
        <p:nvSpPr>
          <p:cNvPr id="43" name="Shape 41"/>
          <p:cNvSpPr/>
          <p:nvPr/>
        </p:nvSpPr>
        <p:spPr>
          <a:xfrm>
            <a:off x="5029200" y="4041648"/>
            <a:ext cx="292608" cy="292608"/>
          </a:xfrm>
          <a:prstGeom prst="rect">
            <a:avLst/>
          </a:prstGeom>
          <a:solidFill>
            <a:srgbClr val="15803D"/>
          </a:solidFill>
          <a:ln w="12700">
            <a:solidFill>
              <a:srgbClr val="15803D"/>
            </a:solidFill>
            <a:prstDash val="solid"/>
          </a:ln>
        </p:spPr>
        <p:txBody>
          <a:bodyPr/>
          <a:lstStyle/>
          <a:p>
            <a:endParaRPr lang="en-US"/>
          </a:p>
        </p:txBody>
      </p:sp>
      <p:sp>
        <p:nvSpPr>
          <p:cNvPr id="44" name="Text 42"/>
          <p:cNvSpPr/>
          <p:nvPr/>
        </p:nvSpPr>
        <p:spPr>
          <a:xfrm>
            <a:off x="5029200" y="404164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45" name="Text 43"/>
          <p:cNvSpPr/>
          <p:nvPr/>
        </p:nvSpPr>
        <p:spPr>
          <a:xfrm>
            <a:off x="5394960" y="4005072"/>
            <a:ext cx="3337560" cy="457200"/>
          </a:xfrm>
          <a:prstGeom prst="rect">
            <a:avLst/>
          </a:prstGeom>
          <a:noFill/>
          <a:ln/>
        </p:spPr>
        <p:txBody>
          <a:bodyPr wrap="square" lIns="0" tIns="0" rIns="0" bIns="0" rtlCol="0" anchor="ctr"/>
          <a:lstStyle/>
          <a:p>
            <a:pPr marL="0" indent="0">
              <a:buNone/>
            </a:pPr>
            <a:r>
              <a:rPr lang="en-US" sz="1150" dirty="0">
                <a:solidFill>
                  <a:srgbClr val="1E293B"/>
                </a:solidFill>
              </a:rPr>
              <a:t>STRING at 0.75 (vs 0.80) removes 2× more ambiguous negatives — correct, more conservative direction</a:t>
            </a:r>
            <a:endParaRPr lang="en-US" sz="1150" dirty="0"/>
          </a:p>
        </p:txBody>
      </p:sp>
      <p:sp>
        <p:nvSpPr>
          <p:cNvPr id="46" name="Text 44"/>
          <p:cNvSpPr/>
          <p:nvPr/>
        </p:nvSpPr>
        <p:spPr>
          <a:xfrm>
            <a:off x="5029200" y="4754880"/>
            <a:ext cx="3749040" cy="256032"/>
          </a:xfrm>
          <a:prstGeom prst="rect">
            <a:avLst/>
          </a:prstGeom>
          <a:noFill/>
          <a:ln/>
        </p:spPr>
        <p:txBody>
          <a:bodyPr wrap="square" lIns="0" tIns="0" rIns="0" bIns="0" rtlCol="0" anchor="ctr"/>
          <a:lstStyle/>
          <a:p>
            <a:pPr marL="0" indent="0">
              <a:buNone/>
            </a:pPr>
            <a:r>
              <a:rPr lang="en-US" sz="1050" i="1" dirty="0">
                <a:solidFill>
                  <a:srgbClr val="94A3B8"/>
                </a:solidFill>
              </a:rPr>
              <a:t>Positive rate stable: 6.4% (25.06) → 6.5% (26.03)</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B6D4"/>
          </a:solidFill>
          <a:ln w="12700">
            <a:solidFill>
              <a:srgbClr val="06B6D4"/>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6B6D4"/>
          </a:solidFill>
          <a:ln w="12700">
            <a:solidFill>
              <a:srgbClr val="06B6D4"/>
            </a:solidFill>
            <a:prstDash val="solid"/>
          </a:ln>
        </p:spPr>
        <p:txBody>
          <a:bodyPr/>
          <a:lstStyle/>
          <a:p>
            <a:endParaRPr lang="en-US"/>
          </a:p>
        </p:txBody>
      </p:sp>
      <p:sp>
        <p:nvSpPr>
          <p:cNvPr id="4" name="Text 2"/>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rPr>
              <a:t>Issues &amp; Next Steps</a:t>
            </a:r>
            <a:endParaRPr lang="en-US" sz="2600" dirty="0"/>
          </a:p>
        </p:txBody>
      </p:sp>
      <p:sp>
        <p:nvSpPr>
          <p:cNvPr id="5" name="Shape 3"/>
          <p:cNvSpPr/>
          <p:nvPr/>
        </p:nvSpPr>
        <p:spPr>
          <a:xfrm>
            <a:off x="274320" y="822960"/>
            <a:ext cx="4023360" cy="3977640"/>
          </a:xfrm>
          <a:prstGeom prst="rect">
            <a:avLst/>
          </a:prstGeom>
          <a:solidFill>
            <a:srgbClr val="0A1E30"/>
          </a:solidFill>
          <a:ln w="12700">
            <a:solidFill>
              <a:srgbClr val="1C4A6E"/>
            </a:solidFill>
            <a:prstDash val="solid"/>
          </a:ln>
        </p:spPr>
        <p:txBody>
          <a:bodyPr/>
          <a:lstStyle/>
          <a:p>
            <a:endParaRPr lang="en-US"/>
          </a:p>
        </p:txBody>
      </p:sp>
      <p:sp>
        <p:nvSpPr>
          <p:cNvPr id="6" name="Shape 4"/>
          <p:cNvSpPr/>
          <p:nvPr/>
        </p:nvSpPr>
        <p:spPr>
          <a:xfrm>
            <a:off x="274320" y="822960"/>
            <a:ext cx="4023360" cy="64008"/>
          </a:xfrm>
          <a:prstGeom prst="rect">
            <a:avLst/>
          </a:prstGeom>
          <a:solidFill>
            <a:srgbClr val="B91C1C"/>
          </a:solidFill>
          <a:ln w="12700">
            <a:solidFill>
              <a:srgbClr val="B91C1C"/>
            </a:solidFill>
            <a:prstDash val="solid"/>
          </a:ln>
        </p:spPr>
        <p:txBody>
          <a:bodyPr/>
          <a:lstStyle/>
          <a:p>
            <a:endParaRPr lang="en-US"/>
          </a:p>
        </p:txBody>
      </p:sp>
      <p:sp>
        <p:nvSpPr>
          <p:cNvPr id="7" name="Text 5"/>
          <p:cNvSpPr/>
          <p:nvPr/>
        </p:nvSpPr>
        <p:spPr>
          <a:xfrm>
            <a:off x="411480" y="886968"/>
            <a:ext cx="3840480" cy="347472"/>
          </a:xfrm>
          <a:prstGeom prst="rect">
            <a:avLst/>
          </a:prstGeom>
          <a:noFill/>
          <a:ln/>
        </p:spPr>
        <p:txBody>
          <a:bodyPr wrap="square" lIns="0" tIns="0" rIns="0" bIns="0" rtlCol="0" anchor="ctr"/>
          <a:lstStyle/>
          <a:p>
            <a:pPr marL="0" indent="0">
              <a:buNone/>
            </a:pPr>
            <a:r>
              <a:rPr lang="en-US" sz="1400" b="1" dirty="0">
                <a:solidFill>
                  <a:srgbClr val="B91C1C"/>
                </a:solidFill>
              </a:rPr>
              <a:t>Issues Identified</a:t>
            </a:r>
            <a:endParaRPr lang="en-US" sz="1400" dirty="0"/>
          </a:p>
        </p:txBody>
      </p:sp>
      <p:sp>
        <p:nvSpPr>
          <p:cNvPr id="8" name="Shape 6"/>
          <p:cNvSpPr/>
          <p:nvPr/>
        </p:nvSpPr>
        <p:spPr>
          <a:xfrm>
            <a:off x="411480" y="1353312"/>
            <a:ext cx="54864" cy="868680"/>
          </a:xfrm>
          <a:prstGeom prst="rect">
            <a:avLst/>
          </a:prstGeom>
          <a:solidFill>
            <a:srgbClr val="B91C1C"/>
          </a:solidFill>
          <a:ln w="12700">
            <a:solidFill>
              <a:srgbClr val="B91C1C"/>
            </a:solidFill>
            <a:prstDash val="solid"/>
          </a:ln>
        </p:spPr>
        <p:txBody>
          <a:bodyPr/>
          <a:lstStyle/>
          <a:p>
            <a:endParaRPr lang="en-US"/>
          </a:p>
        </p:txBody>
      </p:sp>
      <p:sp>
        <p:nvSpPr>
          <p:cNvPr id="9" name="Text 7"/>
          <p:cNvSpPr/>
          <p:nvPr/>
        </p:nvSpPr>
        <p:spPr>
          <a:xfrm>
            <a:off x="548640" y="1353312"/>
            <a:ext cx="3611880" cy="292608"/>
          </a:xfrm>
          <a:prstGeom prst="rect">
            <a:avLst/>
          </a:prstGeom>
          <a:noFill/>
          <a:ln/>
        </p:spPr>
        <p:txBody>
          <a:bodyPr wrap="square" lIns="0" tIns="0" rIns="0" bIns="0" rtlCol="0" anchor="ctr"/>
          <a:lstStyle/>
          <a:p>
            <a:pPr marL="0" indent="0">
              <a:buNone/>
            </a:pPr>
            <a:r>
              <a:rPr lang="en-US" sz="1200" b="1" dirty="0">
                <a:solidFill>
                  <a:srgbClr val="FCA5A5"/>
                </a:solidFill>
              </a:rPr>
              <a:t>Replication filter too lenient</a:t>
            </a:r>
            <a:endParaRPr lang="en-US" sz="1200" dirty="0"/>
          </a:p>
        </p:txBody>
      </p:sp>
      <p:sp>
        <p:nvSpPr>
          <p:cNvPr id="10" name="Text 8"/>
          <p:cNvSpPr/>
          <p:nvPr/>
        </p:nvSpPr>
        <p:spPr>
          <a:xfrm>
            <a:off x="548640" y="1645920"/>
            <a:ext cx="3611880" cy="658368"/>
          </a:xfrm>
          <a:prstGeom prst="rect">
            <a:avLst/>
          </a:prstGeom>
          <a:noFill/>
          <a:ln/>
        </p:spPr>
        <p:txBody>
          <a:bodyPr wrap="square" lIns="0" tIns="0" rIns="0" bIns="0" rtlCol="0" anchor="ctr"/>
          <a:lstStyle/>
          <a:p>
            <a:pPr marL="0" indent="0">
              <a:buNone/>
            </a:pPr>
            <a:r>
              <a:rPr lang="en-US" sz="1100" dirty="0">
                <a:solidFill>
                  <a:srgbClr val="CBD5E1"/>
                </a:solidFill>
              </a:rPr>
              <a:t>26.03 on-the-fly criterion (≥2 GWAS) passes 654k CSs vs 264k curated list in 25.06. Simple counts conflate studies from the same cohort.</a:t>
            </a:r>
            <a:endParaRPr lang="en-US" sz="1100" dirty="0"/>
          </a:p>
        </p:txBody>
      </p:sp>
      <p:sp>
        <p:nvSpPr>
          <p:cNvPr id="11" name="Shape 9"/>
          <p:cNvSpPr/>
          <p:nvPr/>
        </p:nvSpPr>
        <p:spPr>
          <a:xfrm>
            <a:off x="411480" y="2450592"/>
            <a:ext cx="54864" cy="868680"/>
          </a:xfrm>
          <a:prstGeom prst="rect">
            <a:avLst/>
          </a:prstGeom>
          <a:solidFill>
            <a:srgbClr val="B91C1C"/>
          </a:solidFill>
          <a:ln w="12700">
            <a:solidFill>
              <a:srgbClr val="B91C1C"/>
            </a:solidFill>
            <a:prstDash val="solid"/>
          </a:ln>
        </p:spPr>
        <p:txBody>
          <a:bodyPr/>
          <a:lstStyle/>
          <a:p>
            <a:endParaRPr lang="en-US"/>
          </a:p>
        </p:txBody>
      </p:sp>
      <p:sp>
        <p:nvSpPr>
          <p:cNvPr id="12" name="Text 10"/>
          <p:cNvSpPr/>
          <p:nvPr/>
        </p:nvSpPr>
        <p:spPr>
          <a:xfrm>
            <a:off x="548640" y="2450592"/>
            <a:ext cx="3611880" cy="292608"/>
          </a:xfrm>
          <a:prstGeom prst="rect">
            <a:avLst/>
          </a:prstGeom>
          <a:noFill/>
          <a:ln/>
        </p:spPr>
        <p:txBody>
          <a:bodyPr wrap="square" lIns="0" tIns="0" rIns="0" bIns="0" rtlCol="0" anchor="ctr"/>
          <a:lstStyle/>
          <a:p>
            <a:pPr marL="0" indent="0">
              <a:buNone/>
            </a:pPr>
            <a:r>
              <a:rPr lang="en-US" sz="1200" b="1" dirty="0">
                <a:solidFill>
                  <a:srgbClr val="FCA5A5"/>
                </a:solidFill>
              </a:rPr>
              <a:t>Qualified studies filter dropped</a:t>
            </a:r>
            <a:endParaRPr lang="en-US" sz="1200" dirty="0"/>
          </a:p>
        </p:txBody>
      </p:sp>
      <p:sp>
        <p:nvSpPr>
          <p:cNvPr id="13" name="Text 11"/>
          <p:cNvSpPr/>
          <p:nvPr/>
        </p:nvSpPr>
        <p:spPr>
          <a:xfrm>
            <a:off x="548640" y="2743200"/>
            <a:ext cx="3611880" cy="658368"/>
          </a:xfrm>
          <a:prstGeom prst="rect">
            <a:avLst/>
          </a:prstGeom>
          <a:noFill/>
          <a:ln/>
        </p:spPr>
        <p:txBody>
          <a:bodyPr wrap="square" lIns="0" tIns="0" rIns="0" bIns="0" rtlCol="0" anchor="ctr"/>
          <a:lstStyle/>
          <a:p>
            <a:pPr marL="0" indent="0">
              <a:buNone/>
            </a:pPr>
            <a:r>
              <a:rPr lang="en-US" sz="1100" dirty="0">
                <a:solidFill>
                  <a:srgbClr val="CBD5E1"/>
                </a:solidFill>
              </a:rPr>
              <a:t>25.06 restricted FM to 67k curated GWAS studies before filtering. Dropping this in 26.03 inflates the dataset with lower-quality studies.</a:t>
            </a:r>
            <a:endParaRPr lang="en-US" sz="1100" dirty="0"/>
          </a:p>
        </p:txBody>
      </p:sp>
      <p:sp>
        <p:nvSpPr>
          <p:cNvPr id="14" name="Shape 12"/>
          <p:cNvSpPr/>
          <p:nvPr/>
        </p:nvSpPr>
        <p:spPr>
          <a:xfrm>
            <a:off x="411480" y="3547872"/>
            <a:ext cx="54864" cy="868680"/>
          </a:xfrm>
          <a:prstGeom prst="rect">
            <a:avLst/>
          </a:prstGeom>
          <a:solidFill>
            <a:srgbClr val="B91C1C"/>
          </a:solidFill>
          <a:ln w="12700">
            <a:solidFill>
              <a:srgbClr val="B91C1C"/>
            </a:solidFill>
            <a:prstDash val="solid"/>
          </a:ln>
        </p:spPr>
        <p:txBody>
          <a:bodyPr/>
          <a:lstStyle/>
          <a:p>
            <a:endParaRPr lang="en-US"/>
          </a:p>
        </p:txBody>
      </p:sp>
      <p:sp>
        <p:nvSpPr>
          <p:cNvPr id="15" name="Text 13"/>
          <p:cNvSpPr/>
          <p:nvPr/>
        </p:nvSpPr>
        <p:spPr>
          <a:xfrm>
            <a:off x="548640" y="3547872"/>
            <a:ext cx="3611880" cy="292608"/>
          </a:xfrm>
          <a:prstGeom prst="rect">
            <a:avLst/>
          </a:prstGeom>
          <a:noFill/>
          <a:ln/>
        </p:spPr>
        <p:txBody>
          <a:bodyPr wrap="square" lIns="0" tIns="0" rIns="0" bIns="0" rtlCol="0" anchor="ctr"/>
          <a:lstStyle/>
          <a:p>
            <a:pPr marL="0" indent="0">
              <a:buNone/>
            </a:pPr>
            <a:r>
              <a:rPr lang="en-US" sz="1200" b="1" dirty="0">
                <a:solidFill>
                  <a:srgbClr val="FCA5A5"/>
                </a:solidFill>
              </a:rPr>
              <a:t>ChEMBL coverage gap</a:t>
            </a:r>
            <a:endParaRPr lang="en-US" sz="1200" dirty="0"/>
          </a:p>
        </p:txBody>
      </p:sp>
      <p:sp>
        <p:nvSpPr>
          <p:cNvPr id="16" name="Text 14"/>
          <p:cNvSpPr/>
          <p:nvPr/>
        </p:nvSpPr>
        <p:spPr>
          <a:xfrm>
            <a:off x="548640" y="3840480"/>
            <a:ext cx="3611880" cy="658368"/>
          </a:xfrm>
          <a:prstGeom prst="rect">
            <a:avLst/>
          </a:prstGeom>
          <a:noFill/>
          <a:ln/>
        </p:spPr>
        <p:txBody>
          <a:bodyPr wrap="square" lIns="0" tIns="0" rIns="0" bIns="0" rtlCol="0" anchor="ctr"/>
          <a:lstStyle/>
          <a:p>
            <a:pPr marL="0" indent="0">
              <a:buNone/>
            </a:pPr>
            <a:r>
              <a:rPr lang="en-US" sz="1100" dirty="0">
                <a:solidFill>
                  <a:srgbClr val="CBD5E1"/>
                </a:solidFill>
              </a:rPr>
              <a:t>Expected substantially more novel EGLs from the new clinical_precedence schema. Only +97 new pairs seen — root cause unclear.</a:t>
            </a:r>
            <a:endParaRPr lang="en-US" sz="1100" dirty="0"/>
          </a:p>
        </p:txBody>
      </p:sp>
      <p:sp>
        <p:nvSpPr>
          <p:cNvPr id="17" name="Shape 15"/>
          <p:cNvSpPr/>
          <p:nvPr/>
        </p:nvSpPr>
        <p:spPr>
          <a:xfrm>
            <a:off x="4846320" y="822960"/>
            <a:ext cx="4023360" cy="3977640"/>
          </a:xfrm>
          <a:prstGeom prst="rect">
            <a:avLst/>
          </a:prstGeom>
          <a:solidFill>
            <a:srgbClr val="0A1E30"/>
          </a:solidFill>
          <a:ln w="12700">
            <a:solidFill>
              <a:srgbClr val="1C4A6E"/>
            </a:solidFill>
            <a:prstDash val="solid"/>
          </a:ln>
        </p:spPr>
        <p:txBody>
          <a:bodyPr/>
          <a:lstStyle/>
          <a:p>
            <a:endParaRPr lang="en-US"/>
          </a:p>
        </p:txBody>
      </p:sp>
      <p:sp>
        <p:nvSpPr>
          <p:cNvPr id="18" name="Shape 16"/>
          <p:cNvSpPr/>
          <p:nvPr/>
        </p:nvSpPr>
        <p:spPr>
          <a:xfrm>
            <a:off x="4846320" y="822960"/>
            <a:ext cx="4023360" cy="64008"/>
          </a:xfrm>
          <a:prstGeom prst="rect">
            <a:avLst/>
          </a:prstGeom>
          <a:solidFill>
            <a:srgbClr val="0E7490"/>
          </a:solidFill>
          <a:ln w="12700">
            <a:solidFill>
              <a:srgbClr val="0E7490"/>
            </a:solidFill>
            <a:prstDash val="solid"/>
          </a:ln>
        </p:spPr>
        <p:txBody>
          <a:bodyPr/>
          <a:lstStyle/>
          <a:p>
            <a:endParaRPr lang="en-US"/>
          </a:p>
        </p:txBody>
      </p:sp>
      <p:sp>
        <p:nvSpPr>
          <p:cNvPr id="19" name="Text 17"/>
          <p:cNvSpPr/>
          <p:nvPr/>
        </p:nvSpPr>
        <p:spPr>
          <a:xfrm>
            <a:off x="4983480" y="886968"/>
            <a:ext cx="3840480" cy="347472"/>
          </a:xfrm>
          <a:prstGeom prst="rect">
            <a:avLst/>
          </a:prstGeom>
          <a:noFill/>
          <a:ln/>
        </p:spPr>
        <p:txBody>
          <a:bodyPr wrap="square" lIns="0" tIns="0" rIns="0" bIns="0" rtlCol="0" anchor="ctr"/>
          <a:lstStyle/>
          <a:p>
            <a:pPr marL="0" indent="0">
              <a:buNone/>
            </a:pPr>
            <a:r>
              <a:rPr lang="en-US" sz="1400" b="1" dirty="0">
                <a:solidFill>
                  <a:srgbClr val="06B6D4"/>
                </a:solidFill>
              </a:rPr>
              <a:t>Next Steps</a:t>
            </a:r>
            <a:endParaRPr lang="en-US" sz="1400" dirty="0"/>
          </a:p>
        </p:txBody>
      </p:sp>
      <p:sp>
        <p:nvSpPr>
          <p:cNvPr id="20" name="Shape 18"/>
          <p:cNvSpPr/>
          <p:nvPr/>
        </p:nvSpPr>
        <p:spPr>
          <a:xfrm>
            <a:off x="4983480" y="1353312"/>
            <a:ext cx="54864" cy="868680"/>
          </a:xfrm>
          <a:prstGeom prst="rect">
            <a:avLst/>
          </a:prstGeom>
          <a:solidFill>
            <a:srgbClr val="0E7490"/>
          </a:solidFill>
          <a:ln w="12700">
            <a:solidFill>
              <a:srgbClr val="0E7490"/>
            </a:solidFill>
            <a:prstDash val="solid"/>
          </a:ln>
        </p:spPr>
        <p:txBody>
          <a:bodyPr/>
          <a:lstStyle/>
          <a:p>
            <a:endParaRPr lang="en-US"/>
          </a:p>
        </p:txBody>
      </p:sp>
      <p:sp>
        <p:nvSpPr>
          <p:cNvPr id="21" name="Text 19"/>
          <p:cNvSpPr/>
          <p:nvPr/>
        </p:nvSpPr>
        <p:spPr>
          <a:xfrm>
            <a:off x="5120640" y="1353312"/>
            <a:ext cx="3611880" cy="292608"/>
          </a:xfrm>
          <a:prstGeom prst="rect">
            <a:avLst/>
          </a:prstGeom>
          <a:noFill/>
          <a:ln/>
        </p:spPr>
        <p:txBody>
          <a:bodyPr wrap="square" lIns="0" tIns="0" rIns="0" bIns="0" rtlCol="0" anchor="ctr"/>
          <a:lstStyle/>
          <a:p>
            <a:pPr marL="0" indent="0">
              <a:buNone/>
            </a:pPr>
            <a:r>
              <a:rPr lang="en-US" sz="1200" b="1" dirty="0">
                <a:solidFill>
                  <a:srgbClr val="06B6D4"/>
                </a:solidFill>
              </a:rPr>
              <a:t>Stricter replication criterion</a:t>
            </a:r>
            <a:endParaRPr lang="en-US" sz="1200" dirty="0"/>
          </a:p>
        </p:txBody>
      </p:sp>
      <p:sp>
        <p:nvSpPr>
          <p:cNvPr id="22" name="Text 20"/>
          <p:cNvSpPr/>
          <p:nvPr/>
        </p:nvSpPr>
        <p:spPr>
          <a:xfrm>
            <a:off x="5120640" y="1645920"/>
            <a:ext cx="3611880" cy="658368"/>
          </a:xfrm>
          <a:prstGeom prst="rect">
            <a:avLst/>
          </a:prstGeom>
          <a:noFill/>
          <a:ln/>
        </p:spPr>
        <p:txBody>
          <a:bodyPr wrap="square" lIns="0" tIns="0" rIns="0" bIns="0" rtlCol="0" anchor="ctr"/>
          <a:lstStyle/>
          <a:p>
            <a:pPr marL="0" indent="0">
              <a:buNone/>
            </a:pPr>
            <a:r>
              <a:rPr lang="en-US" sz="1100" dirty="0">
                <a:solidFill>
                  <a:srgbClr val="CBD5E1"/>
                </a:solidFill>
              </a:rPr>
              <a:t>Require replication across independent cohorts or ancestries (not just any 2 GWAS entries). Consider reintroducing a curated qualified-studies list for 27.x.</a:t>
            </a:r>
            <a:endParaRPr lang="en-US" sz="1100" dirty="0"/>
          </a:p>
        </p:txBody>
      </p:sp>
      <p:sp>
        <p:nvSpPr>
          <p:cNvPr id="23" name="Shape 21"/>
          <p:cNvSpPr/>
          <p:nvPr/>
        </p:nvSpPr>
        <p:spPr>
          <a:xfrm>
            <a:off x="4983480" y="2450592"/>
            <a:ext cx="54864" cy="868680"/>
          </a:xfrm>
          <a:prstGeom prst="rect">
            <a:avLst/>
          </a:prstGeom>
          <a:solidFill>
            <a:srgbClr val="0E7490"/>
          </a:solidFill>
          <a:ln w="12700">
            <a:solidFill>
              <a:srgbClr val="0E7490"/>
            </a:solidFill>
            <a:prstDash val="solid"/>
          </a:ln>
        </p:spPr>
        <p:txBody>
          <a:bodyPr/>
          <a:lstStyle/>
          <a:p>
            <a:endParaRPr lang="en-US"/>
          </a:p>
        </p:txBody>
      </p:sp>
      <p:sp>
        <p:nvSpPr>
          <p:cNvPr id="24" name="Text 22"/>
          <p:cNvSpPr/>
          <p:nvPr/>
        </p:nvSpPr>
        <p:spPr>
          <a:xfrm>
            <a:off x="5120640" y="2450592"/>
            <a:ext cx="3611880" cy="292608"/>
          </a:xfrm>
          <a:prstGeom prst="rect">
            <a:avLst/>
          </a:prstGeom>
          <a:noFill/>
          <a:ln/>
        </p:spPr>
        <p:txBody>
          <a:bodyPr wrap="square" lIns="0" tIns="0" rIns="0" bIns="0" rtlCol="0" anchor="ctr"/>
          <a:lstStyle/>
          <a:p>
            <a:pPr marL="0" indent="0">
              <a:buNone/>
            </a:pPr>
            <a:r>
              <a:rPr lang="en-US" sz="1200" b="1" dirty="0">
                <a:solidFill>
                  <a:srgbClr val="06B6D4"/>
                </a:solidFill>
              </a:rPr>
              <a:t>Investigate ChEMBL pipeline</a:t>
            </a:r>
            <a:endParaRPr lang="en-US" sz="1200" dirty="0"/>
          </a:p>
        </p:txBody>
      </p:sp>
      <p:sp>
        <p:nvSpPr>
          <p:cNvPr id="25" name="Text 23"/>
          <p:cNvSpPr/>
          <p:nvPr/>
        </p:nvSpPr>
        <p:spPr>
          <a:xfrm>
            <a:off x="5120640" y="2743200"/>
            <a:ext cx="3611880" cy="658368"/>
          </a:xfrm>
          <a:prstGeom prst="rect">
            <a:avLst/>
          </a:prstGeom>
          <a:noFill/>
          <a:ln/>
        </p:spPr>
        <p:txBody>
          <a:bodyPr wrap="square" lIns="0" tIns="0" rIns="0" bIns="0" rtlCol="0" anchor="ctr"/>
          <a:lstStyle/>
          <a:p>
            <a:pPr marL="0" indent="0">
              <a:buNone/>
            </a:pPr>
            <a:r>
              <a:rPr lang="en-US" sz="1100" dirty="0">
                <a:solidFill>
                  <a:srgbClr val="CBD5E1"/>
                </a:solidFill>
              </a:rPr>
              <a:t>Compare evidence_clinical_precedence/ schema with old chembl evidence to understand the low novel-pair yield. May require upstream fix.</a:t>
            </a:r>
            <a:endParaRPr lang="en-US" sz="1100" dirty="0"/>
          </a:p>
        </p:txBody>
      </p:sp>
      <p:sp>
        <p:nvSpPr>
          <p:cNvPr id="26" name="Shape 24"/>
          <p:cNvSpPr/>
          <p:nvPr/>
        </p:nvSpPr>
        <p:spPr>
          <a:xfrm>
            <a:off x="4983480" y="3547872"/>
            <a:ext cx="54864" cy="868680"/>
          </a:xfrm>
          <a:prstGeom prst="rect">
            <a:avLst/>
          </a:prstGeom>
          <a:solidFill>
            <a:srgbClr val="0E7490"/>
          </a:solidFill>
          <a:ln w="12700">
            <a:solidFill>
              <a:srgbClr val="0E7490"/>
            </a:solidFill>
            <a:prstDash val="solid"/>
          </a:ln>
        </p:spPr>
        <p:txBody>
          <a:bodyPr/>
          <a:lstStyle/>
          <a:p>
            <a:endParaRPr lang="en-US"/>
          </a:p>
        </p:txBody>
      </p:sp>
      <p:sp>
        <p:nvSpPr>
          <p:cNvPr id="27" name="Text 25"/>
          <p:cNvSpPr/>
          <p:nvPr/>
        </p:nvSpPr>
        <p:spPr>
          <a:xfrm>
            <a:off x="5120640" y="3547872"/>
            <a:ext cx="3611880" cy="292608"/>
          </a:xfrm>
          <a:prstGeom prst="rect">
            <a:avLst/>
          </a:prstGeom>
          <a:noFill/>
          <a:ln/>
        </p:spPr>
        <p:txBody>
          <a:bodyPr wrap="square" lIns="0" tIns="0" rIns="0" bIns="0" rtlCol="0" anchor="ctr"/>
          <a:lstStyle/>
          <a:p>
            <a:pPr marL="0" indent="0">
              <a:buNone/>
            </a:pPr>
            <a:r>
              <a:rPr lang="en-US" sz="1200" b="1" dirty="0">
                <a:solidFill>
                  <a:srgbClr val="06B6D4"/>
                </a:solidFill>
              </a:rPr>
              <a:t>Evaluate rare variant threshold</a:t>
            </a:r>
            <a:endParaRPr lang="en-US" sz="1200" dirty="0"/>
          </a:p>
        </p:txBody>
      </p:sp>
      <p:sp>
        <p:nvSpPr>
          <p:cNvPr id="28" name="Text 26"/>
          <p:cNvSpPr/>
          <p:nvPr/>
        </p:nvSpPr>
        <p:spPr>
          <a:xfrm>
            <a:off x="5120640" y="3840480"/>
            <a:ext cx="3611880" cy="658368"/>
          </a:xfrm>
          <a:prstGeom prst="rect">
            <a:avLst/>
          </a:prstGeom>
          <a:noFill/>
          <a:ln/>
        </p:spPr>
        <p:txBody>
          <a:bodyPr wrap="square" lIns="0" tIns="0" rIns="0" bIns="0" rtlCol="0" anchor="ctr"/>
          <a:lstStyle/>
          <a:p>
            <a:pPr marL="0" indent="0">
              <a:buNone/>
            </a:pPr>
            <a:r>
              <a:rPr lang="en-US" sz="1100" dirty="0">
                <a:solidFill>
                  <a:srgbClr val="CBD5E1"/>
                </a:solidFill>
              </a:rPr>
              <a:t>Assess precision vs recall trade-off of 0.75 vs 0.95 threshold. EVA dominance at 0.75 warrants a sensitivity analysis.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2B45"/>
          </a:solidFill>
          <a:ln w="12700">
            <a:solidFill>
              <a:srgbClr val="0D2B45"/>
            </a:solidFill>
            <a:prstDash val="solid"/>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Nearest-TSS Gene Analysis &amp; Feature Taxonomy</a:t>
            </a:r>
            <a:endParaRPr lang="en-US" sz="2200" dirty="0"/>
          </a:p>
        </p:txBody>
      </p:sp>
      <p:sp>
        <p:nvSpPr>
          <p:cNvPr id="4" name="Shape 2"/>
          <p:cNvSpPr/>
          <p:nvPr/>
        </p:nvSpPr>
        <p:spPr>
          <a:xfrm>
            <a:off x="274320" y="777240"/>
            <a:ext cx="4023360" cy="416052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5" name="Shape 3"/>
          <p:cNvSpPr/>
          <p:nvPr/>
        </p:nvSpPr>
        <p:spPr>
          <a:xfrm>
            <a:off x="274320" y="777240"/>
            <a:ext cx="4023360" cy="64008"/>
          </a:xfrm>
          <a:prstGeom prst="rect">
            <a:avLst/>
          </a:prstGeom>
          <a:solidFill>
            <a:srgbClr val="0E7490"/>
          </a:solidFill>
          <a:ln w="12700">
            <a:solidFill>
              <a:srgbClr val="0E7490"/>
            </a:solidFill>
            <a:prstDash val="solid"/>
          </a:ln>
        </p:spPr>
        <p:txBody>
          <a:bodyPr/>
          <a:lstStyle/>
          <a:p>
            <a:endParaRPr lang="en-US"/>
          </a:p>
        </p:txBody>
      </p:sp>
      <p:sp>
        <p:nvSpPr>
          <p:cNvPr id="6" name="Text 4"/>
          <p:cNvSpPr/>
          <p:nvPr/>
        </p:nvSpPr>
        <p:spPr>
          <a:xfrm>
            <a:off x="411480" y="841248"/>
            <a:ext cx="3840480" cy="347472"/>
          </a:xfrm>
          <a:prstGeom prst="rect">
            <a:avLst/>
          </a:prstGeom>
          <a:noFill/>
          <a:ln/>
        </p:spPr>
        <p:txBody>
          <a:bodyPr wrap="square" lIns="0" tIns="0" rIns="0" bIns="0" rtlCol="0" anchor="ctr"/>
          <a:lstStyle/>
          <a:p>
            <a:pPr marL="0" indent="0">
              <a:buNone/>
            </a:pPr>
            <a:r>
              <a:rPr lang="en-US" sz="1300" b="1" dirty="0">
                <a:solidFill>
                  <a:srgbClr val="0E7490"/>
                </a:solidFill>
              </a:rPr>
              <a:t>Nearest-TSS Composition of Positives</a:t>
            </a:r>
            <a:endParaRPr lang="en-US" sz="1300" dirty="0"/>
          </a:p>
        </p:txBody>
      </p:sp>
      <p:sp>
        <p:nvSpPr>
          <p:cNvPr id="7" name="Shape 5"/>
          <p:cNvSpPr/>
          <p:nvPr/>
        </p:nvSpPr>
        <p:spPr>
          <a:xfrm>
            <a:off x="411480" y="1298448"/>
            <a:ext cx="3749040" cy="1417320"/>
          </a:xfrm>
          <a:prstGeom prst="rect">
            <a:avLst/>
          </a:prstGeom>
          <a:solidFill>
            <a:srgbClr val="F4F9FF"/>
          </a:solidFill>
          <a:ln w="12700">
            <a:solidFill>
              <a:srgbClr val="DDE8F5"/>
            </a:solidFill>
            <a:prstDash val="solid"/>
          </a:ln>
        </p:spPr>
        <p:txBody>
          <a:bodyPr/>
          <a:lstStyle/>
          <a:p>
            <a:endParaRPr lang="en-US"/>
          </a:p>
        </p:txBody>
      </p:sp>
      <p:sp>
        <p:nvSpPr>
          <p:cNvPr id="8" name="Text 6"/>
          <p:cNvSpPr/>
          <p:nvPr/>
        </p:nvSpPr>
        <p:spPr>
          <a:xfrm>
            <a:off x="411480" y="1371600"/>
            <a:ext cx="3749040" cy="594360"/>
          </a:xfrm>
          <a:prstGeom prst="rect">
            <a:avLst/>
          </a:prstGeom>
          <a:noFill/>
          <a:ln/>
        </p:spPr>
        <p:txBody>
          <a:bodyPr wrap="square" lIns="0" tIns="0" rIns="0" bIns="0" rtlCol="0" anchor="ctr"/>
          <a:lstStyle/>
          <a:p>
            <a:pPr marL="0" indent="0" algn="ctr">
              <a:buNone/>
            </a:pPr>
            <a:r>
              <a:rPr lang="en-US" sz="3000" b="1" dirty="0">
                <a:solidFill>
                  <a:srgbClr val="2471A3"/>
                </a:solidFill>
              </a:rPr>
              <a:t>55.1%</a:t>
            </a:r>
            <a:endParaRPr lang="en-US" sz="3000" dirty="0"/>
          </a:p>
        </p:txBody>
      </p:sp>
      <p:sp>
        <p:nvSpPr>
          <p:cNvPr id="9" name="Text 7"/>
          <p:cNvSpPr/>
          <p:nvPr/>
        </p:nvSpPr>
        <p:spPr>
          <a:xfrm>
            <a:off x="411480" y="1965960"/>
            <a:ext cx="3749040" cy="320040"/>
          </a:xfrm>
          <a:prstGeom prst="rect">
            <a:avLst/>
          </a:prstGeom>
          <a:noFill/>
          <a:ln/>
        </p:spPr>
        <p:txBody>
          <a:bodyPr wrap="square" lIns="0" tIns="0" rIns="0" bIns="0" rtlCol="0" anchor="ctr"/>
          <a:lstStyle/>
          <a:p>
            <a:pPr marL="0" indent="0" algn="ctr">
              <a:buNone/>
            </a:pPr>
            <a:r>
              <a:rPr lang="en-US" sz="1400" dirty="0">
                <a:solidFill>
                  <a:srgbClr val="1E293B"/>
                </a:solidFill>
              </a:rPr>
              <a:t>7,201 rows</a:t>
            </a:r>
            <a:endParaRPr lang="en-US" sz="1400" dirty="0"/>
          </a:p>
        </p:txBody>
      </p:sp>
      <p:sp>
        <p:nvSpPr>
          <p:cNvPr id="10" name="Text 8"/>
          <p:cNvSpPr/>
          <p:nvPr/>
        </p:nvSpPr>
        <p:spPr>
          <a:xfrm>
            <a:off x="411480" y="2304288"/>
            <a:ext cx="3749040" cy="274320"/>
          </a:xfrm>
          <a:prstGeom prst="rect">
            <a:avLst/>
          </a:prstGeom>
          <a:noFill/>
          <a:ln/>
        </p:spPr>
        <p:txBody>
          <a:bodyPr wrap="square" lIns="0" tIns="0" rIns="0" bIns="0" rtlCol="0" anchor="ctr"/>
          <a:lstStyle/>
          <a:p>
            <a:pPr marL="0" indent="0" algn="ctr">
              <a:buNone/>
            </a:pPr>
            <a:r>
              <a:rPr lang="en-US" sz="1100" dirty="0">
                <a:solidFill>
                  <a:srgbClr val="475569"/>
                </a:solidFill>
              </a:rPr>
              <a:t>Nearest TSS (score = 1.0)</a:t>
            </a:r>
            <a:endParaRPr lang="en-US" sz="1100" dirty="0"/>
          </a:p>
        </p:txBody>
      </p:sp>
      <p:sp>
        <p:nvSpPr>
          <p:cNvPr id="11" name="Shape 9"/>
          <p:cNvSpPr/>
          <p:nvPr/>
        </p:nvSpPr>
        <p:spPr>
          <a:xfrm>
            <a:off x="411480" y="2898648"/>
            <a:ext cx="3749040" cy="1417320"/>
          </a:xfrm>
          <a:prstGeom prst="rect">
            <a:avLst/>
          </a:prstGeom>
          <a:solidFill>
            <a:srgbClr val="F4F9FF"/>
          </a:solidFill>
          <a:ln w="12700">
            <a:solidFill>
              <a:srgbClr val="DDE8F5"/>
            </a:solidFill>
            <a:prstDash val="solid"/>
          </a:ln>
        </p:spPr>
        <p:txBody>
          <a:bodyPr/>
          <a:lstStyle/>
          <a:p>
            <a:endParaRPr lang="en-US"/>
          </a:p>
        </p:txBody>
      </p:sp>
      <p:sp>
        <p:nvSpPr>
          <p:cNvPr id="12" name="Text 10"/>
          <p:cNvSpPr/>
          <p:nvPr/>
        </p:nvSpPr>
        <p:spPr>
          <a:xfrm>
            <a:off x="411480" y="2971800"/>
            <a:ext cx="3749040" cy="594360"/>
          </a:xfrm>
          <a:prstGeom prst="rect">
            <a:avLst/>
          </a:prstGeom>
          <a:noFill/>
          <a:ln/>
        </p:spPr>
        <p:txBody>
          <a:bodyPr wrap="square" lIns="0" tIns="0" rIns="0" bIns="0" rtlCol="0" anchor="ctr"/>
          <a:lstStyle/>
          <a:p>
            <a:pPr marL="0" indent="0" algn="ctr">
              <a:buNone/>
            </a:pPr>
            <a:r>
              <a:rPr lang="en-US" sz="3000" b="1" dirty="0">
                <a:solidFill>
                  <a:srgbClr val="E67E22"/>
                </a:solidFill>
              </a:rPr>
              <a:t>44.9%</a:t>
            </a:r>
            <a:endParaRPr lang="en-US" sz="3000" dirty="0"/>
          </a:p>
        </p:txBody>
      </p:sp>
      <p:sp>
        <p:nvSpPr>
          <p:cNvPr id="13" name="Text 11"/>
          <p:cNvSpPr/>
          <p:nvPr/>
        </p:nvSpPr>
        <p:spPr>
          <a:xfrm>
            <a:off x="411480" y="3566160"/>
            <a:ext cx="3749040" cy="320040"/>
          </a:xfrm>
          <a:prstGeom prst="rect">
            <a:avLst/>
          </a:prstGeom>
          <a:noFill/>
          <a:ln/>
        </p:spPr>
        <p:txBody>
          <a:bodyPr wrap="square" lIns="0" tIns="0" rIns="0" bIns="0" rtlCol="0" anchor="ctr"/>
          <a:lstStyle/>
          <a:p>
            <a:pPr marL="0" indent="0" algn="ctr">
              <a:buNone/>
            </a:pPr>
            <a:r>
              <a:rPr lang="en-US" sz="1400" dirty="0">
                <a:solidFill>
                  <a:srgbClr val="1E293B"/>
                </a:solidFill>
              </a:rPr>
              <a:t>5,859 rows</a:t>
            </a:r>
            <a:endParaRPr lang="en-US" sz="1400" dirty="0"/>
          </a:p>
        </p:txBody>
      </p:sp>
      <p:sp>
        <p:nvSpPr>
          <p:cNvPr id="14" name="Text 12"/>
          <p:cNvSpPr/>
          <p:nvPr/>
        </p:nvSpPr>
        <p:spPr>
          <a:xfrm>
            <a:off x="411480" y="3904488"/>
            <a:ext cx="3749040" cy="274320"/>
          </a:xfrm>
          <a:prstGeom prst="rect">
            <a:avLst/>
          </a:prstGeom>
          <a:noFill/>
          <a:ln/>
        </p:spPr>
        <p:txBody>
          <a:bodyPr wrap="square" lIns="0" tIns="0" rIns="0" bIns="0" rtlCol="0" anchor="ctr"/>
          <a:lstStyle/>
          <a:p>
            <a:pPr marL="0" indent="0" algn="ctr">
              <a:buNone/>
            </a:pPr>
            <a:r>
              <a:rPr lang="en-US" sz="1100" dirty="0">
                <a:solidFill>
                  <a:srgbClr val="475569"/>
                </a:solidFill>
              </a:rPr>
              <a:t>Non-nearest (score &lt; 1.0)</a:t>
            </a:r>
            <a:endParaRPr lang="en-US" sz="1100" dirty="0"/>
          </a:p>
        </p:txBody>
      </p:sp>
      <p:sp>
        <p:nvSpPr>
          <p:cNvPr id="15" name="Text 13"/>
          <p:cNvSpPr/>
          <p:nvPr/>
        </p:nvSpPr>
        <p:spPr>
          <a:xfrm>
            <a:off x="411480" y="4462272"/>
            <a:ext cx="3749040" cy="411480"/>
          </a:xfrm>
          <a:prstGeom prst="rect">
            <a:avLst/>
          </a:prstGeom>
          <a:noFill/>
          <a:ln/>
        </p:spPr>
        <p:txBody>
          <a:bodyPr wrap="square" lIns="0" tIns="0" rIns="0" bIns="0" rtlCol="0" anchor="ctr"/>
          <a:lstStyle/>
          <a:p>
            <a:pPr marL="0" indent="0">
              <a:buNone/>
            </a:pPr>
            <a:r>
              <a:rPr lang="en-US" sz="950" i="1" dirty="0">
                <a:solidFill>
                  <a:srgbClr val="475569"/>
                </a:solidFill>
              </a:rPr>
              <a:t>distanceSentinelTssNeighbourhood is a continuous 0–1 score.</a:t>
            </a:r>
            <a:endParaRPr lang="en-US" sz="950" dirty="0"/>
          </a:p>
          <a:p>
            <a:pPr marL="0" indent="0">
              <a:buNone/>
            </a:pPr>
            <a:r>
              <a:rPr lang="en-US" sz="950" i="1" dirty="0">
                <a:solidFill>
                  <a:srgbClr val="475569"/>
                </a:solidFill>
              </a:rPr>
              <a:t>1.0 = nearest TSS gene.  Median of non-nearest = 0.982 (mostly second-nearest).</a:t>
            </a:r>
            <a:endParaRPr lang="en-US" sz="950" dirty="0"/>
          </a:p>
        </p:txBody>
      </p:sp>
      <p:sp>
        <p:nvSpPr>
          <p:cNvPr id="16" name="Shape 14"/>
          <p:cNvSpPr/>
          <p:nvPr/>
        </p:nvSpPr>
        <p:spPr>
          <a:xfrm>
            <a:off x="4572000" y="777240"/>
            <a:ext cx="4251960" cy="4160520"/>
          </a:xfrm>
          <a:prstGeom prst="rect">
            <a:avLst/>
          </a:prstGeom>
          <a:solidFill>
            <a:srgbClr val="FFFFFF"/>
          </a:solidFill>
          <a:ln/>
          <a:effectLst>
            <a:outerShdw blurRad="88900" dist="25400" dir="8100000" algn="bl" rotWithShape="0">
              <a:srgbClr val="000000">
                <a:alpha val="11000"/>
              </a:srgbClr>
            </a:outerShdw>
          </a:effectLst>
        </p:spPr>
        <p:txBody>
          <a:bodyPr/>
          <a:lstStyle/>
          <a:p>
            <a:endParaRPr lang="en-US"/>
          </a:p>
        </p:txBody>
      </p:sp>
      <p:sp>
        <p:nvSpPr>
          <p:cNvPr id="17" name="Shape 15"/>
          <p:cNvSpPr/>
          <p:nvPr/>
        </p:nvSpPr>
        <p:spPr>
          <a:xfrm>
            <a:off x="4572000" y="777240"/>
            <a:ext cx="4251960" cy="64008"/>
          </a:xfrm>
          <a:prstGeom prst="rect">
            <a:avLst/>
          </a:prstGeom>
          <a:solidFill>
            <a:srgbClr val="D97706"/>
          </a:solidFill>
          <a:ln w="12700">
            <a:solidFill>
              <a:srgbClr val="D97706"/>
            </a:solidFill>
            <a:prstDash val="solid"/>
          </a:ln>
        </p:spPr>
        <p:txBody>
          <a:bodyPr/>
          <a:lstStyle/>
          <a:p>
            <a:endParaRPr lang="en-US"/>
          </a:p>
        </p:txBody>
      </p:sp>
      <p:sp>
        <p:nvSpPr>
          <p:cNvPr id="18" name="Text 16"/>
          <p:cNvSpPr/>
          <p:nvPr/>
        </p:nvSpPr>
        <p:spPr>
          <a:xfrm>
            <a:off x="4709160" y="841248"/>
            <a:ext cx="4023360" cy="347472"/>
          </a:xfrm>
          <a:prstGeom prst="rect">
            <a:avLst/>
          </a:prstGeom>
          <a:noFill/>
          <a:ln/>
        </p:spPr>
        <p:txBody>
          <a:bodyPr wrap="square" lIns="0" tIns="0" rIns="0" bIns="0" rtlCol="0" anchor="ctr"/>
          <a:lstStyle/>
          <a:p>
            <a:pPr marL="0" indent="0">
              <a:buNone/>
            </a:pPr>
            <a:r>
              <a:rPr lang="en-US" sz="1300" b="1" dirty="0">
                <a:solidFill>
                  <a:srgbClr val="D97706"/>
                </a:solidFill>
              </a:rPr>
              <a:t>Feature Taxonomy</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663440" y="1261872"/>
          <a:ext cx="4069080" cy="3291840"/>
        </p:xfrm>
        <a:graphic>
          <a:graphicData uri="http://schemas.openxmlformats.org/drawingml/2006/table">
            <a:tbl>
              <a:tblPr/>
              <a:tblGrid>
                <a:gridCol w="1463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548640">
                <a:tc>
                  <a:txBody>
                    <a:bodyPr/>
                    <a:lstStyle/>
                    <a:p>
                      <a:pPr marL="0" indent="0">
                        <a:buNone/>
                      </a:pPr>
                      <a:r>
                        <a:rPr lang="en-US" sz="1100" b="1" dirty="0">
                          <a:solidFill>
                            <a:srgbClr val="FFFFFF"/>
                          </a:solidFill>
                        </a:rPr>
                        <a:t>Category</a:t>
                      </a:r>
                      <a:endParaRPr lang="en-US" sz="11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5"/>
                    </a:solidFill>
                  </a:tcPr>
                </a:tc>
                <a:tc>
                  <a:txBody>
                    <a:bodyPr/>
                    <a:lstStyle/>
                    <a:p>
                      <a:pPr marL="0" indent="0">
                        <a:buNone/>
                      </a:pPr>
                      <a:r>
                        <a:rPr lang="en-US" sz="1100" b="1" dirty="0">
                          <a:solidFill>
                            <a:srgbClr val="FFFFFF"/>
                          </a:solidFill>
                        </a:rPr>
                        <a:t>Features</a:t>
                      </a:r>
                      <a:endParaRPr lang="en-US" sz="11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5"/>
                    </a:solidFill>
                  </a:tcPr>
                </a:tc>
                <a:extLst>
                  <a:ext uri="{0D108BD9-81ED-4DB2-BD59-A6C34878D82A}">
                    <a16:rowId xmlns:a16="http://schemas.microsoft.com/office/drawing/2014/main" val="10000"/>
                  </a:ext>
                </a:extLst>
              </a:tr>
              <a:tr h="548640">
                <a:tc>
                  <a:txBody>
                    <a:bodyPr/>
                    <a:lstStyle/>
                    <a:p>
                      <a:pPr marL="0" indent="0">
                        <a:buNone/>
                      </a:pPr>
                      <a:r>
                        <a:rPr lang="en-US" sz="1000" b="1" dirty="0">
                          <a:solidFill>
                            <a:srgbClr val="1E293B"/>
                          </a:solidFill>
                        </a:rPr>
                        <a:t>Functional</a:t>
                      </a:r>
                      <a:endParaRPr lang="en-US" sz="1000" dirty="0"/>
                    </a:p>
                    <a:p>
                      <a:pPr marL="0" indent="0">
                        <a:buNone/>
                      </a:pPr>
                      <a:r>
                        <a:rPr lang="en-US" sz="1000" b="1" dirty="0">
                          <a:solidFill>
                            <a:srgbClr val="1E293B"/>
                          </a:solidFill>
                        </a:rPr>
                        <a:t>Genomics — QTL</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75569"/>
                          </a:solidFill>
                        </a:rPr>
                        <a:t>eQTL CLPP/H4, pQTL CLPP/H4, sQTL CLPP/H4</a:t>
                      </a:r>
                      <a:endParaRPr lang="en-US" sz="1000" dirty="0"/>
                    </a:p>
                    <a:p>
                      <a:pPr marL="0" indent="0">
                        <a:buNone/>
                      </a:pPr>
                      <a:r>
                        <a:rPr lang="en-US" sz="1000" dirty="0">
                          <a:solidFill>
                            <a:srgbClr val="475569"/>
                          </a:solidFill>
                        </a:rPr>
                        <a:t>(+ neighbourhood versions)</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000" b="1" dirty="0">
                          <a:solidFill>
                            <a:srgbClr val="1E293B"/>
                          </a:solidFill>
                        </a:rPr>
                        <a:t>Functional</a:t>
                      </a:r>
                      <a:endParaRPr lang="en-US" sz="1000" dirty="0"/>
                    </a:p>
                    <a:p>
                      <a:pPr marL="0" indent="0">
                        <a:buNone/>
                      </a:pPr>
                      <a:r>
                        <a:rPr lang="en-US" sz="1000" b="1" dirty="0">
                          <a:solidFill>
                            <a:srgbClr val="1E293B"/>
                          </a:solidFill>
                        </a:rPr>
                        <a:t>Genomics — Reg.</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75569"/>
                          </a:solidFill>
                        </a:rPr>
                        <a:t>E2G mean (+ neighbourhood)</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000" b="1" dirty="0">
                          <a:solidFill>
                            <a:srgbClr val="1E293B"/>
                          </a:solidFill>
                        </a:rPr>
                        <a:t>Functional</a:t>
                      </a:r>
                      <a:endParaRPr lang="en-US" sz="1000" dirty="0"/>
                    </a:p>
                    <a:p>
                      <a:pPr marL="0" indent="0">
                        <a:buNone/>
                      </a:pPr>
                      <a:r>
                        <a:rPr lang="en-US" sz="1000" b="1" dirty="0">
                          <a:solidFill>
                            <a:srgbClr val="1E293B"/>
                          </a:solidFill>
                        </a:rPr>
                        <a:t>Genomics — VEP</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A93226"/>
                          </a:solidFill>
                        </a:rPr>
                        <a:t>VEP max / mean (+ neighbourhood)</a:t>
                      </a:r>
                      <a:endParaRPr lang="en-US" sz="1000" dirty="0"/>
                    </a:p>
                    <a:p>
                      <a:pPr marL="0" indent="0">
                        <a:buNone/>
                      </a:pPr>
                      <a:r>
                        <a:rPr lang="en-US" sz="1000" dirty="0">
                          <a:solidFill>
                            <a:srgbClr val="A93226"/>
                          </a:solidFill>
                        </a:rPr>
                        <a:t>Background min = 0.2 for all positives</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000" b="1" dirty="0">
                          <a:solidFill>
                            <a:srgbClr val="1E293B"/>
                          </a:solidFill>
                        </a:rPr>
                        <a:t>Distance-based</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75569"/>
                          </a:solidFill>
                        </a:rPr>
                        <a:t>distanceSentinelTss/Footprint + Mean</a:t>
                      </a:r>
                      <a:endParaRPr lang="en-US" sz="1000" dirty="0"/>
                    </a:p>
                    <a:p>
                      <a:pPr marL="0" indent="0">
                        <a:buNone/>
                      </a:pPr>
                      <a:r>
                        <a:rPr lang="en-US" sz="1000" dirty="0">
                          <a:solidFill>
                            <a:srgbClr val="475569"/>
                          </a:solidFill>
                        </a:rPr>
                        <a:t>variants + Neighbourhood scores (×8)</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000" b="1" dirty="0">
                          <a:solidFill>
                            <a:srgbClr val="1E293B"/>
                          </a:solidFill>
                        </a:rPr>
                        <a:t>Meta / other</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75569"/>
                          </a:solidFill>
                        </a:rPr>
                        <a:t>credibleSetConfidence, geneCount500kb,</a:t>
                      </a:r>
                      <a:endParaRPr lang="en-US" sz="1000" dirty="0"/>
                    </a:p>
                    <a:p>
                      <a:pPr marL="0" indent="0">
                        <a:buNone/>
                      </a:pPr>
                      <a:r>
                        <a:rPr lang="en-US" sz="1000" dirty="0">
                          <a:solidFill>
                            <a:srgbClr val="475569"/>
                          </a:solidFill>
                        </a:rPr>
                        <a:t>proteinGeneCount500kb, isProteinCoding</a:t>
                      </a:r>
                      <a:endParaRPr lang="en-US" sz="1000" dirty="0"/>
                    </a:p>
                  </a:txBody>
                  <a:tcPr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B6D4"/>
          </a:solidFill>
          <a:ln w="12700">
            <a:solidFill>
              <a:srgbClr val="06B6D4"/>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6B6D4"/>
          </a:solidFill>
          <a:ln w="12700">
            <a:solidFill>
              <a:srgbClr val="06B6D4"/>
            </a:solidFill>
            <a:prstDash val="solid"/>
          </a:ln>
        </p:spPr>
        <p:txBody>
          <a:bodyPr/>
          <a:lstStyle/>
          <a:p>
            <a:endParaRPr lang="en-US"/>
          </a:p>
        </p:txBody>
      </p:sp>
      <p:sp>
        <p:nvSpPr>
          <p:cNvPr id="4" name="Text 2"/>
          <p:cNvSpPr/>
          <p:nvPr/>
        </p:nvSpPr>
        <p:spPr>
          <a:xfrm>
            <a:off x="457200" y="91440"/>
            <a:ext cx="8229600" cy="566928"/>
          </a:xfrm>
          <a:prstGeom prst="rect">
            <a:avLst/>
          </a:prstGeom>
          <a:noFill/>
          <a:ln/>
        </p:spPr>
        <p:txBody>
          <a:bodyPr wrap="square" lIns="0" tIns="0" rIns="0" bIns="0" rtlCol="0" anchor="ctr"/>
          <a:lstStyle/>
          <a:p>
            <a:pPr marL="0" indent="0">
              <a:buNone/>
            </a:pPr>
            <a:r>
              <a:rPr lang="en-US" sz="2600" b="1" dirty="0">
                <a:solidFill>
                  <a:srgbClr val="FFFFFF"/>
                </a:solidFill>
              </a:rPr>
              <a:t>Dark Matter in the Training Set</a:t>
            </a:r>
            <a:endParaRPr lang="en-US" sz="2600" dirty="0"/>
          </a:p>
        </p:txBody>
      </p:sp>
      <p:sp>
        <p:nvSpPr>
          <p:cNvPr id="5" name="Shape 3"/>
          <p:cNvSpPr/>
          <p:nvPr/>
        </p:nvSpPr>
        <p:spPr>
          <a:xfrm>
            <a:off x="274320" y="758952"/>
            <a:ext cx="8595360" cy="713232"/>
          </a:xfrm>
          <a:prstGeom prst="rect">
            <a:avLst/>
          </a:prstGeom>
          <a:solidFill>
            <a:srgbClr val="0A1E30"/>
          </a:solidFill>
          <a:ln w="12700">
            <a:solidFill>
              <a:srgbClr val="06B6D4"/>
            </a:solidFill>
            <a:prstDash val="solid"/>
          </a:ln>
        </p:spPr>
        <p:txBody>
          <a:bodyPr/>
          <a:lstStyle/>
          <a:p>
            <a:endParaRPr lang="en-US"/>
          </a:p>
        </p:txBody>
      </p:sp>
      <p:sp>
        <p:nvSpPr>
          <p:cNvPr id="6" name="Text 4"/>
          <p:cNvSpPr/>
          <p:nvPr/>
        </p:nvSpPr>
        <p:spPr>
          <a:xfrm>
            <a:off x="411480" y="795528"/>
            <a:ext cx="8321040" cy="640080"/>
          </a:xfrm>
          <a:prstGeom prst="rect">
            <a:avLst/>
          </a:prstGeom>
          <a:noFill/>
          <a:ln/>
        </p:spPr>
        <p:txBody>
          <a:bodyPr wrap="square" lIns="0" tIns="0" rIns="0" bIns="0" rtlCol="0" anchor="ctr"/>
          <a:lstStyle/>
          <a:p>
            <a:pPr marL="0" indent="0">
              <a:buNone/>
            </a:pPr>
            <a:r>
              <a:rPr lang="en-US" sz="1150" b="1" dirty="0">
                <a:solidFill>
                  <a:srgbClr val="06B6D4"/>
                </a:solidFill>
              </a:rPr>
              <a:t>Definition: </a:t>
            </a:r>
            <a:r>
              <a:rPr lang="en-US" sz="1150" dirty="0">
                <a:solidFill>
                  <a:srgbClr val="CBD5E1"/>
                </a:solidFill>
              </a:rPr>
              <a:t>GSP=1 rows that are (1) not nearest by TSS, (2) not nearest by footprint, AND (3) have zero value across all QTL colocalisation and E2G features. The only remaining signal is distance rank and background VEP (min 0.2 for all positives — not gene-specific).</a:t>
            </a:r>
            <a:endParaRPr lang="en-US" sz="1150" dirty="0"/>
          </a:p>
        </p:txBody>
      </p:sp>
      <p:sp>
        <p:nvSpPr>
          <p:cNvPr id="7" name="Shape 5"/>
          <p:cNvSpPr/>
          <p:nvPr/>
        </p:nvSpPr>
        <p:spPr>
          <a:xfrm>
            <a:off x="274320" y="1581912"/>
            <a:ext cx="2697480" cy="1920240"/>
          </a:xfrm>
          <a:prstGeom prst="rect">
            <a:avLst/>
          </a:prstGeom>
          <a:solidFill>
            <a:srgbClr val="0A1E30"/>
          </a:solidFill>
          <a:ln w="12700">
            <a:solidFill>
              <a:srgbClr val="C0392B"/>
            </a:solidFill>
            <a:prstDash val="solid"/>
          </a:ln>
        </p:spPr>
        <p:txBody>
          <a:bodyPr/>
          <a:lstStyle/>
          <a:p>
            <a:endParaRPr lang="en-US"/>
          </a:p>
        </p:txBody>
      </p:sp>
      <p:sp>
        <p:nvSpPr>
          <p:cNvPr id="8" name="Text 6"/>
          <p:cNvSpPr/>
          <p:nvPr/>
        </p:nvSpPr>
        <p:spPr>
          <a:xfrm>
            <a:off x="274320" y="1645920"/>
            <a:ext cx="2697480" cy="658368"/>
          </a:xfrm>
          <a:prstGeom prst="rect">
            <a:avLst/>
          </a:prstGeom>
          <a:noFill/>
          <a:ln/>
        </p:spPr>
        <p:txBody>
          <a:bodyPr wrap="square" lIns="0" tIns="0" rIns="0" bIns="0" rtlCol="0" anchor="ctr"/>
          <a:lstStyle/>
          <a:p>
            <a:pPr marL="0" indent="0" algn="ctr">
              <a:buNone/>
            </a:pPr>
            <a:r>
              <a:rPr lang="en-US" sz="3400" b="1" dirty="0">
                <a:solidFill>
                  <a:srgbClr val="E74C3C"/>
                </a:solidFill>
              </a:rPr>
              <a:t>22.8%</a:t>
            </a:r>
            <a:endParaRPr lang="en-US" sz="3400" dirty="0"/>
          </a:p>
        </p:txBody>
      </p:sp>
      <p:sp>
        <p:nvSpPr>
          <p:cNvPr id="9" name="Text 7"/>
          <p:cNvSpPr/>
          <p:nvPr/>
        </p:nvSpPr>
        <p:spPr>
          <a:xfrm>
            <a:off x="274320" y="2304288"/>
            <a:ext cx="2697480" cy="365760"/>
          </a:xfrm>
          <a:prstGeom prst="rect">
            <a:avLst/>
          </a:prstGeom>
          <a:noFill/>
          <a:ln/>
        </p:spPr>
        <p:txBody>
          <a:bodyPr wrap="square" lIns="0" tIns="0" rIns="0" bIns="0" rtlCol="0" anchor="ctr"/>
          <a:lstStyle/>
          <a:p>
            <a:pPr marL="0" indent="0" algn="ctr">
              <a:buNone/>
            </a:pPr>
            <a:r>
              <a:rPr lang="en-US" sz="1600" b="1" dirty="0">
                <a:solidFill>
                  <a:srgbClr val="FFFFFF"/>
                </a:solidFill>
              </a:rPr>
              <a:t>2,977</a:t>
            </a:r>
            <a:endParaRPr lang="en-US" sz="1600" dirty="0"/>
          </a:p>
        </p:txBody>
      </p:sp>
      <p:sp>
        <p:nvSpPr>
          <p:cNvPr id="10" name="Text 8"/>
          <p:cNvSpPr/>
          <p:nvPr/>
        </p:nvSpPr>
        <p:spPr>
          <a:xfrm>
            <a:off x="274320" y="2679192"/>
            <a:ext cx="2697480" cy="256032"/>
          </a:xfrm>
          <a:prstGeom prst="rect">
            <a:avLst/>
          </a:prstGeom>
          <a:noFill/>
          <a:ln/>
        </p:spPr>
        <p:txBody>
          <a:bodyPr wrap="square" lIns="0" tIns="0" rIns="0" bIns="0" rtlCol="0" anchor="ctr"/>
          <a:lstStyle/>
          <a:p>
            <a:pPr marL="0" indent="0" algn="ctr">
              <a:buNone/>
            </a:pPr>
            <a:r>
              <a:rPr lang="en-US" sz="1100" dirty="0">
                <a:solidFill>
                  <a:srgbClr val="94A3B8"/>
                </a:solidFill>
              </a:rPr>
              <a:t>of 13,060 positives</a:t>
            </a:r>
            <a:endParaRPr lang="en-US" sz="1100" dirty="0"/>
          </a:p>
        </p:txBody>
      </p:sp>
      <p:sp>
        <p:nvSpPr>
          <p:cNvPr id="11" name="Text 9"/>
          <p:cNvSpPr/>
          <p:nvPr/>
        </p:nvSpPr>
        <p:spPr>
          <a:xfrm>
            <a:off x="274320" y="2971800"/>
            <a:ext cx="2697480" cy="256032"/>
          </a:xfrm>
          <a:prstGeom prst="rect">
            <a:avLst/>
          </a:prstGeom>
          <a:noFill/>
          <a:ln/>
        </p:spPr>
        <p:txBody>
          <a:bodyPr wrap="square" lIns="0" tIns="0" rIns="0" bIns="0" rtlCol="0" anchor="ctr"/>
          <a:lstStyle/>
          <a:p>
            <a:pPr marL="0" indent="0" algn="ctr">
              <a:buNone/>
            </a:pPr>
            <a:r>
              <a:rPr lang="en-US" sz="1100" b="1" dirty="0">
                <a:solidFill>
                  <a:srgbClr val="E74C3C"/>
                </a:solidFill>
              </a:rPr>
              <a:t>All dark matter</a:t>
            </a:r>
            <a:endParaRPr lang="en-US" sz="1100" dirty="0"/>
          </a:p>
        </p:txBody>
      </p:sp>
      <p:sp>
        <p:nvSpPr>
          <p:cNvPr id="12" name="Shape 10"/>
          <p:cNvSpPr/>
          <p:nvPr/>
        </p:nvSpPr>
        <p:spPr>
          <a:xfrm>
            <a:off x="3154680" y="1581912"/>
            <a:ext cx="2697480" cy="1920240"/>
          </a:xfrm>
          <a:prstGeom prst="rect">
            <a:avLst/>
          </a:prstGeom>
          <a:solidFill>
            <a:srgbClr val="0A1E30"/>
          </a:solidFill>
          <a:ln w="12700">
            <a:solidFill>
              <a:srgbClr val="C0392B"/>
            </a:solidFill>
            <a:prstDash val="solid"/>
          </a:ln>
        </p:spPr>
        <p:txBody>
          <a:bodyPr/>
          <a:lstStyle/>
          <a:p>
            <a:endParaRPr lang="en-US"/>
          </a:p>
        </p:txBody>
      </p:sp>
      <p:sp>
        <p:nvSpPr>
          <p:cNvPr id="13" name="Text 11"/>
          <p:cNvSpPr/>
          <p:nvPr/>
        </p:nvSpPr>
        <p:spPr>
          <a:xfrm>
            <a:off x="3154680" y="1645920"/>
            <a:ext cx="2697480" cy="658368"/>
          </a:xfrm>
          <a:prstGeom prst="rect">
            <a:avLst/>
          </a:prstGeom>
          <a:noFill/>
          <a:ln/>
        </p:spPr>
        <p:txBody>
          <a:bodyPr wrap="square" lIns="0" tIns="0" rIns="0" bIns="0" rtlCol="0" anchor="ctr"/>
          <a:lstStyle/>
          <a:p>
            <a:pPr marL="0" indent="0" algn="ctr">
              <a:buNone/>
            </a:pPr>
            <a:r>
              <a:rPr lang="en-US" sz="3400" b="1" dirty="0">
                <a:solidFill>
                  <a:srgbClr val="E74C3C"/>
                </a:solidFill>
              </a:rPr>
              <a:t>22.5%</a:t>
            </a:r>
            <a:endParaRPr lang="en-US" sz="3400" dirty="0"/>
          </a:p>
        </p:txBody>
      </p:sp>
      <p:sp>
        <p:nvSpPr>
          <p:cNvPr id="14" name="Text 12"/>
          <p:cNvSpPr/>
          <p:nvPr/>
        </p:nvSpPr>
        <p:spPr>
          <a:xfrm>
            <a:off x="3154680" y="2304288"/>
            <a:ext cx="2697480" cy="365760"/>
          </a:xfrm>
          <a:prstGeom prst="rect">
            <a:avLst/>
          </a:prstGeom>
          <a:noFill/>
          <a:ln/>
        </p:spPr>
        <p:txBody>
          <a:bodyPr wrap="square" lIns="0" tIns="0" rIns="0" bIns="0" rtlCol="0" anchor="ctr"/>
          <a:lstStyle/>
          <a:p>
            <a:pPr marL="0" indent="0" algn="ctr">
              <a:buNone/>
            </a:pPr>
            <a:r>
              <a:rPr lang="en-US" sz="1600" b="1" dirty="0">
                <a:solidFill>
                  <a:srgbClr val="FFFFFF"/>
                </a:solidFill>
              </a:rPr>
              <a:t>1,621</a:t>
            </a:r>
            <a:endParaRPr lang="en-US" sz="1600" dirty="0"/>
          </a:p>
        </p:txBody>
      </p:sp>
      <p:sp>
        <p:nvSpPr>
          <p:cNvPr id="15" name="Text 13"/>
          <p:cNvSpPr/>
          <p:nvPr/>
        </p:nvSpPr>
        <p:spPr>
          <a:xfrm>
            <a:off x="3154680" y="2679192"/>
            <a:ext cx="2697480" cy="256032"/>
          </a:xfrm>
          <a:prstGeom prst="rect">
            <a:avLst/>
          </a:prstGeom>
          <a:noFill/>
          <a:ln/>
        </p:spPr>
        <p:txBody>
          <a:bodyPr wrap="square" lIns="0" tIns="0" rIns="0" bIns="0" rtlCol="0" anchor="ctr"/>
          <a:lstStyle/>
          <a:p>
            <a:pPr marL="0" indent="0" algn="ctr">
              <a:buNone/>
            </a:pPr>
            <a:r>
              <a:rPr lang="en-US" sz="1100" dirty="0">
                <a:solidFill>
                  <a:srgbClr val="94A3B8"/>
                </a:solidFill>
              </a:rPr>
              <a:t>of 7,201 nearest</a:t>
            </a:r>
            <a:endParaRPr lang="en-US" sz="1100" dirty="0"/>
          </a:p>
        </p:txBody>
      </p:sp>
      <p:sp>
        <p:nvSpPr>
          <p:cNvPr id="16" name="Text 14"/>
          <p:cNvSpPr/>
          <p:nvPr/>
        </p:nvSpPr>
        <p:spPr>
          <a:xfrm>
            <a:off x="3154680" y="2971800"/>
            <a:ext cx="2697480" cy="256032"/>
          </a:xfrm>
          <a:prstGeom prst="rect">
            <a:avLst/>
          </a:prstGeom>
          <a:noFill/>
          <a:ln/>
        </p:spPr>
        <p:txBody>
          <a:bodyPr wrap="square" lIns="0" tIns="0" rIns="0" bIns="0" rtlCol="0" anchor="ctr"/>
          <a:lstStyle/>
          <a:p>
            <a:pPr marL="0" indent="0" algn="ctr">
              <a:buNone/>
            </a:pPr>
            <a:r>
              <a:rPr lang="en-US" sz="1100" b="1" dirty="0">
                <a:solidFill>
                  <a:srgbClr val="E74C3C"/>
                </a:solidFill>
              </a:rPr>
              <a:t>Nearest TSS only</a:t>
            </a:r>
            <a:endParaRPr lang="en-US" sz="1100" dirty="0"/>
          </a:p>
        </p:txBody>
      </p:sp>
      <p:sp>
        <p:nvSpPr>
          <p:cNvPr id="17" name="Shape 15"/>
          <p:cNvSpPr/>
          <p:nvPr/>
        </p:nvSpPr>
        <p:spPr>
          <a:xfrm>
            <a:off x="6035040" y="1581912"/>
            <a:ext cx="2697480" cy="1920240"/>
          </a:xfrm>
          <a:prstGeom prst="rect">
            <a:avLst/>
          </a:prstGeom>
          <a:solidFill>
            <a:srgbClr val="0A1E30"/>
          </a:solidFill>
          <a:ln w="12700">
            <a:solidFill>
              <a:srgbClr val="C0392B"/>
            </a:solidFill>
            <a:prstDash val="solid"/>
          </a:ln>
        </p:spPr>
        <p:txBody>
          <a:bodyPr/>
          <a:lstStyle/>
          <a:p>
            <a:endParaRPr lang="en-US"/>
          </a:p>
        </p:txBody>
      </p:sp>
      <p:sp>
        <p:nvSpPr>
          <p:cNvPr id="18" name="Text 16"/>
          <p:cNvSpPr/>
          <p:nvPr/>
        </p:nvSpPr>
        <p:spPr>
          <a:xfrm>
            <a:off x="6035040" y="1645920"/>
            <a:ext cx="2697480" cy="658368"/>
          </a:xfrm>
          <a:prstGeom prst="rect">
            <a:avLst/>
          </a:prstGeom>
          <a:noFill/>
          <a:ln/>
        </p:spPr>
        <p:txBody>
          <a:bodyPr wrap="square" lIns="0" tIns="0" rIns="0" bIns="0" rtlCol="0" anchor="ctr"/>
          <a:lstStyle/>
          <a:p>
            <a:pPr marL="0" indent="0" algn="ctr">
              <a:buNone/>
            </a:pPr>
            <a:r>
              <a:rPr lang="en-US" sz="3400" b="1" dirty="0">
                <a:solidFill>
                  <a:srgbClr val="E74C3C"/>
                </a:solidFill>
              </a:rPr>
              <a:t>56.8%</a:t>
            </a:r>
            <a:endParaRPr lang="en-US" sz="3400" dirty="0"/>
          </a:p>
        </p:txBody>
      </p:sp>
      <p:sp>
        <p:nvSpPr>
          <p:cNvPr id="19" name="Text 17"/>
          <p:cNvSpPr/>
          <p:nvPr/>
        </p:nvSpPr>
        <p:spPr>
          <a:xfrm>
            <a:off x="6035040" y="2304288"/>
            <a:ext cx="2697480" cy="365760"/>
          </a:xfrm>
          <a:prstGeom prst="rect">
            <a:avLst/>
          </a:prstGeom>
          <a:noFill/>
          <a:ln/>
        </p:spPr>
        <p:txBody>
          <a:bodyPr wrap="square" lIns="0" tIns="0" rIns="0" bIns="0" rtlCol="0" anchor="ctr"/>
          <a:lstStyle/>
          <a:p>
            <a:pPr marL="0" indent="0" algn="ctr">
              <a:buNone/>
            </a:pPr>
            <a:r>
              <a:rPr lang="en-US" sz="1600" b="1" dirty="0">
                <a:solidFill>
                  <a:srgbClr val="FFFFFF"/>
                </a:solidFill>
              </a:rPr>
              <a:t>3,325</a:t>
            </a:r>
            <a:endParaRPr lang="en-US" sz="1600" dirty="0"/>
          </a:p>
        </p:txBody>
      </p:sp>
      <p:sp>
        <p:nvSpPr>
          <p:cNvPr id="20" name="Text 18"/>
          <p:cNvSpPr/>
          <p:nvPr/>
        </p:nvSpPr>
        <p:spPr>
          <a:xfrm>
            <a:off x="6035040" y="2679192"/>
            <a:ext cx="2697480" cy="256032"/>
          </a:xfrm>
          <a:prstGeom prst="rect">
            <a:avLst/>
          </a:prstGeom>
          <a:noFill/>
          <a:ln/>
        </p:spPr>
        <p:txBody>
          <a:bodyPr wrap="square" lIns="0" tIns="0" rIns="0" bIns="0" rtlCol="0" anchor="ctr"/>
          <a:lstStyle/>
          <a:p>
            <a:pPr marL="0" indent="0" algn="ctr">
              <a:buNone/>
            </a:pPr>
            <a:r>
              <a:rPr lang="en-US" sz="1100" dirty="0">
                <a:solidFill>
                  <a:srgbClr val="94A3B8"/>
                </a:solidFill>
              </a:rPr>
              <a:t>of 5,859 non-nearest</a:t>
            </a:r>
            <a:endParaRPr lang="en-US" sz="1100" dirty="0"/>
          </a:p>
        </p:txBody>
      </p:sp>
      <p:sp>
        <p:nvSpPr>
          <p:cNvPr id="21" name="Text 19"/>
          <p:cNvSpPr/>
          <p:nvPr/>
        </p:nvSpPr>
        <p:spPr>
          <a:xfrm>
            <a:off x="6035040" y="2971800"/>
            <a:ext cx="2697480" cy="256032"/>
          </a:xfrm>
          <a:prstGeom prst="rect">
            <a:avLst/>
          </a:prstGeom>
          <a:noFill/>
          <a:ln/>
        </p:spPr>
        <p:txBody>
          <a:bodyPr wrap="square" lIns="0" tIns="0" rIns="0" bIns="0" rtlCol="0" anchor="ctr"/>
          <a:lstStyle/>
          <a:p>
            <a:pPr marL="0" indent="0" algn="ctr">
              <a:buNone/>
            </a:pPr>
            <a:r>
              <a:rPr lang="en-US" sz="1100" b="1" dirty="0">
                <a:solidFill>
                  <a:srgbClr val="E74C3C"/>
                </a:solidFill>
              </a:rPr>
              <a:t>Non-nearest only</a:t>
            </a:r>
            <a:endParaRPr lang="en-US" sz="1100" dirty="0"/>
          </a:p>
        </p:txBody>
      </p:sp>
      <p:sp>
        <p:nvSpPr>
          <p:cNvPr id="22" name="Shape 20"/>
          <p:cNvSpPr/>
          <p:nvPr/>
        </p:nvSpPr>
        <p:spPr>
          <a:xfrm>
            <a:off x="274320" y="3364992"/>
            <a:ext cx="4114800" cy="1508760"/>
          </a:xfrm>
          <a:prstGeom prst="rect">
            <a:avLst/>
          </a:prstGeom>
          <a:solidFill>
            <a:srgbClr val="0A1E30"/>
          </a:solidFill>
          <a:ln w="12700">
            <a:solidFill>
              <a:srgbClr val="944747"/>
            </a:solidFill>
            <a:prstDash val="solid"/>
          </a:ln>
        </p:spPr>
        <p:txBody>
          <a:bodyPr/>
          <a:lstStyle/>
          <a:p>
            <a:endParaRPr lang="en-US"/>
          </a:p>
        </p:txBody>
      </p:sp>
      <p:sp>
        <p:nvSpPr>
          <p:cNvPr id="23" name="Text 21"/>
          <p:cNvSpPr/>
          <p:nvPr/>
        </p:nvSpPr>
        <p:spPr>
          <a:xfrm>
            <a:off x="411480" y="3410712"/>
            <a:ext cx="3840480" cy="292608"/>
          </a:xfrm>
          <a:prstGeom prst="rect">
            <a:avLst/>
          </a:prstGeom>
          <a:noFill/>
          <a:ln/>
        </p:spPr>
        <p:txBody>
          <a:bodyPr wrap="square" lIns="0" tIns="0" rIns="0" bIns="0" rtlCol="0" anchor="ctr"/>
          <a:lstStyle/>
          <a:p>
            <a:pPr marL="0" indent="0">
              <a:buNone/>
            </a:pPr>
            <a:r>
              <a:rPr lang="en-US" sz="1150" b="1" dirty="0">
                <a:solidFill>
                  <a:srgbClr val="E74C3C"/>
                </a:solidFill>
              </a:rPr>
              <a:t>What the model does with dark matter</a:t>
            </a:r>
            <a:endParaRPr lang="en-US" sz="1150" dirty="0"/>
          </a:p>
        </p:txBody>
      </p:sp>
      <p:sp>
        <p:nvSpPr>
          <p:cNvPr id="24" name="Text 22"/>
          <p:cNvSpPr/>
          <p:nvPr/>
        </p:nvSpPr>
        <p:spPr>
          <a:xfrm>
            <a:off x="411480" y="3721608"/>
            <a:ext cx="3840480" cy="1097280"/>
          </a:xfrm>
          <a:prstGeom prst="rect">
            <a:avLst/>
          </a:prstGeom>
          <a:noFill/>
          <a:ln/>
        </p:spPr>
        <p:txBody>
          <a:bodyPr wrap="square" lIns="0" tIns="0" rIns="0" bIns="0" rtlCol="0" anchor="ctr"/>
          <a:lstStyle/>
          <a:p>
            <a:pPr marL="0" indent="0">
              <a:buNone/>
            </a:pPr>
            <a:r>
              <a:rPr lang="en-US" sz="1050" dirty="0">
                <a:solidFill>
                  <a:srgbClr val="CBD5E1"/>
                </a:solidFill>
              </a:rPr>
              <a:t>Dark matter positives have feature vectors identical to thousands of negatives (QTL=0, E2G=0, non-nearest). The model receives conflicting gradient signal — identical inputs labelled both 0 and 1 — degrading decision boundaries for the 77.2% of positives that are learnable.</a:t>
            </a:r>
            <a:endParaRPr lang="en-US" sz="1050" dirty="0"/>
          </a:p>
        </p:txBody>
      </p:sp>
      <p:sp>
        <p:nvSpPr>
          <p:cNvPr id="25" name="Shape 23"/>
          <p:cNvSpPr/>
          <p:nvPr/>
        </p:nvSpPr>
        <p:spPr>
          <a:xfrm>
            <a:off x="4754880" y="3364992"/>
            <a:ext cx="4114800" cy="1508760"/>
          </a:xfrm>
          <a:prstGeom prst="rect">
            <a:avLst/>
          </a:prstGeom>
          <a:solidFill>
            <a:srgbClr val="0A1E30"/>
          </a:solidFill>
          <a:ln w="12700">
            <a:solidFill>
              <a:srgbClr val="0E7490"/>
            </a:solidFill>
            <a:prstDash val="solid"/>
          </a:ln>
        </p:spPr>
        <p:txBody>
          <a:bodyPr/>
          <a:lstStyle/>
          <a:p>
            <a:endParaRPr lang="en-US"/>
          </a:p>
        </p:txBody>
      </p:sp>
      <p:sp>
        <p:nvSpPr>
          <p:cNvPr id="26" name="Text 24"/>
          <p:cNvSpPr/>
          <p:nvPr/>
        </p:nvSpPr>
        <p:spPr>
          <a:xfrm>
            <a:off x="4892040" y="3410712"/>
            <a:ext cx="3840480" cy="292608"/>
          </a:xfrm>
          <a:prstGeom prst="rect">
            <a:avLst/>
          </a:prstGeom>
          <a:noFill/>
          <a:ln/>
        </p:spPr>
        <p:txBody>
          <a:bodyPr wrap="square" lIns="0" tIns="0" rIns="0" bIns="0" rtlCol="0" anchor="ctr"/>
          <a:lstStyle/>
          <a:p>
            <a:pPr marL="0" indent="0">
              <a:buNone/>
            </a:pPr>
            <a:r>
              <a:rPr lang="en-US" sz="1150" b="1" dirty="0">
                <a:solidFill>
                  <a:srgbClr val="06B6D4"/>
                </a:solidFill>
              </a:rPr>
              <a:t>Recommendation</a:t>
            </a:r>
            <a:endParaRPr lang="en-US" sz="1150" dirty="0"/>
          </a:p>
        </p:txBody>
      </p:sp>
      <p:sp>
        <p:nvSpPr>
          <p:cNvPr id="27" name="Text 25"/>
          <p:cNvSpPr/>
          <p:nvPr/>
        </p:nvSpPr>
        <p:spPr>
          <a:xfrm>
            <a:off x="4892040" y="3721608"/>
            <a:ext cx="3840480" cy="1097280"/>
          </a:xfrm>
          <a:prstGeom prst="rect">
            <a:avLst/>
          </a:prstGeom>
          <a:noFill/>
          <a:ln/>
        </p:spPr>
        <p:txBody>
          <a:bodyPr wrap="square" lIns="0" tIns="0" rIns="0" bIns="0" rtlCol="0" anchor="ctr"/>
          <a:lstStyle/>
          <a:p>
            <a:pPr marL="0" indent="0">
              <a:buNone/>
            </a:pPr>
            <a:r>
              <a:rPr lang="en-US" sz="1050" dirty="0">
                <a:solidFill>
                  <a:srgbClr val="CBD5E1"/>
                </a:solidFill>
              </a:rPr>
              <a:t>Remove dark matter loci from training (all rows for those 2,933 studyLocusIds).
</a:t>
            </a:r>
            <a:r>
              <a:rPr lang="en-US" sz="1050" b="1" dirty="0">
                <a:solidFill>
                  <a:srgbClr val="06B6D4"/>
                </a:solidFill>
              </a:rPr>
              <a:t>Effect: </a:t>
            </a:r>
            <a:r>
              <a:rPr lang="en-US" sz="1050" dirty="0">
                <a:solidFill>
                  <a:srgbClr val="CBD5E1"/>
                </a:solidFill>
              </a:rPr>
              <a:t>146,626 rows remain. Nearest-TSS proportion 55.1% → 71.7%. Non-nearest fold-change over negatives roughly doubles. At inference on full FM, dark-matter-type loci default to nearest-gene prediction — the only valid fallback when no functional evidence exists.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1091</Words>
  <Application>Microsoft Macintosh PowerPoint</Application>
  <PresentationFormat>On-screen Show (16:9)</PresentationFormat>
  <Paragraphs>209</Paragraphs>
  <Slides>8</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L2G Training Set Construction</dc:title>
  <dc:subject>PptxGenJS Presentation</dc:subject>
  <dc:creator>PptxGenJS</dc:creator>
  <cp:lastModifiedBy>Yakov Tsepilov</cp:lastModifiedBy>
  <cp:revision>2</cp:revision>
  <dcterms:created xsi:type="dcterms:W3CDTF">2026-05-08T16:41:59Z</dcterms:created>
  <dcterms:modified xsi:type="dcterms:W3CDTF">2026-05-08T21:26:45Z</dcterms:modified>
</cp:coreProperties>
</file>